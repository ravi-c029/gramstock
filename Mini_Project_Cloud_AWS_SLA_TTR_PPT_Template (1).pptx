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/>
            </a:pPr>
            <a:r>
              <a:t>Mini Project: Industry Cloud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Building an Industry Use-Case Pipeline with SLA, TTR, AWS, Docker &amp; Virtualization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Industry / Domain: [Healthcare / Banking / Manufacturing / Retail / Education / Logistics / Other]</a:t>
            </a:r>
          </a:p>
          <a:p>
            <a:pPr>
              <a:spcAft>
                <a:spcPts val="800"/>
              </a:spcAft>
              <a:defRPr sz="1800"/>
            </a:pPr>
            <a:r>
              <a:t>Use Case: [One-sentence description of the application problem]</a:t>
            </a:r>
          </a:p>
          <a:p>
            <a:pPr>
              <a:spcAft>
                <a:spcPts val="800"/>
              </a:spcAft>
              <a:defRPr sz="1800"/>
            </a:pPr>
            <a:r>
              <a:t>Business Need: Why does the industry need this system?</a:t>
            </a:r>
          </a:p>
          <a:p>
            <a:pPr>
              <a:spcAft>
                <a:spcPts val="800"/>
              </a:spcAft>
              <a:defRPr sz="1800"/>
            </a:pPr>
            <a:r>
              <a:t>Target Users: [Customers / Operators / Administrators / Analysts]</a:t>
            </a:r>
          </a:p>
          <a:p>
            <a:pPr>
              <a:spcAft>
                <a:spcPts val="800"/>
              </a:spcAft>
              <a:defRPr sz="1800"/>
            </a:pPr>
            <a:r>
              <a:t>Cloud Objective: Deploy a scalable, reliable and measurable application pipeline.</a:t>
            </a:r>
          </a:p>
          <a:p>
            <a:pPr>
              <a:spcAft>
                <a:spcPts val="800"/>
              </a:spcAft>
              <a:defRPr sz="1800"/>
            </a:pPr>
            <a:r>
              <a:t>Team Members: [Names, Roll Numbers]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2. Industry Problem &amp;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Current Process / Pain Point: [Describe existing process and limitations]</a:t>
            </a:r>
          </a:p>
          <a:p>
            <a:pPr>
              <a:spcAft>
                <a:spcPts val="800"/>
              </a:spcAft>
              <a:defRPr sz="1800"/>
            </a:pPr>
            <a:r>
              <a:t>Problem Statement: [Specific technical/business problem]</a:t>
            </a:r>
          </a:p>
          <a:p>
            <a:pPr>
              <a:spcAft>
                <a:spcPts val="800"/>
              </a:spcAft>
              <a:defRPr sz="1800"/>
            </a:pPr>
            <a:r>
              <a:t>Proposed Solution: [Cloud-enabled application pipeline]</a:t>
            </a:r>
          </a:p>
          <a:p>
            <a:pPr>
              <a:spcAft>
                <a:spcPts val="800"/>
              </a:spcAft>
              <a:defRPr sz="1800"/>
            </a:pPr>
            <a:r>
              <a:t>Expected Improvement: Availability, response time, scalability, automation and operational efficiency.</a:t>
            </a:r>
          </a:p>
          <a:p>
            <a:pPr>
              <a:spcAft>
                <a:spcPts val="800"/>
              </a:spcAft>
              <a:defRPr sz="1800"/>
            </a:pPr>
            <a:r>
              <a:t>Key Assumptions &amp; Constraints: [Data volume, users, budget, compliance, latency, etc.]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3. SLA &amp; TTR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SLA = Service Level Agreement | TTR = Time to Recovery /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Availability SLA: [e.g., 99.5% / 99.9%]</a:t>
            </a:r>
          </a:p>
          <a:p>
            <a:pPr>
              <a:spcAft>
                <a:spcPts val="800"/>
              </a:spcAft>
              <a:defRPr sz="1800"/>
            </a:pPr>
            <a:r>
              <a:t>Application Response SLA: [e.g., &lt; 2 seconds for 95% requests]</a:t>
            </a:r>
          </a:p>
          <a:p>
            <a:pPr>
              <a:spcAft>
                <a:spcPts val="800"/>
              </a:spcAft>
              <a:defRPr sz="1800"/>
            </a:pPr>
            <a:r>
              <a:t>Recovery Objective: [RTO = ___ minutes]</a:t>
            </a:r>
          </a:p>
          <a:p>
            <a:pPr>
              <a:spcAft>
                <a:spcPts val="800"/>
              </a:spcAft>
              <a:defRPr sz="1800"/>
            </a:pPr>
            <a:r>
              <a:t>Data Loss Objective: [RPO = ___ minutes]</a:t>
            </a:r>
          </a:p>
          <a:p>
            <a:pPr>
              <a:spcAft>
                <a:spcPts val="800"/>
              </a:spcAft>
              <a:defRPr sz="1800"/>
            </a:pPr>
            <a:r>
              <a:t>TTR Target: [___ minutes from incident detection to service restoration]</a:t>
            </a:r>
          </a:p>
          <a:p>
            <a:pPr>
              <a:spcAft>
                <a:spcPts val="800"/>
              </a:spcAft>
              <a:defRPr sz="1800"/>
            </a:pPr>
            <a:r>
              <a:t>Incident Severity: S1 Critical | S2 High | S3 Medium | S4 Low</a:t>
            </a:r>
          </a:p>
          <a:p>
            <a:pPr>
              <a:spcAft>
                <a:spcPts val="800"/>
              </a:spcAft>
              <a:defRPr sz="1800"/>
            </a:pPr>
            <a:r>
              <a:t>Define how SLA violations will be detected and reported.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4. End-to-End Cloud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468880"/>
            <a:ext cx="14173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Users / 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2468880"/>
            <a:ext cx="14173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DNS / Load Balancer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468880"/>
            <a:ext cx="14173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468880"/>
            <a:ext cx="14173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Docker Container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2468880"/>
            <a:ext cx="14173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AWS 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60" y="2468880"/>
            <a:ext cx="14173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Monitoring / SLA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2788920"/>
            <a:ext cx="32004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2788920"/>
            <a:ext cx="32004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788920"/>
            <a:ext cx="32004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788920"/>
            <a:ext cx="32004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4120" y="2788920"/>
            <a:ext cx="32004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Show the complete request-to-response and operations flow.</a:t>
            </a:r>
          </a:p>
          <a:p>
            <a:pPr>
              <a:spcAft>
                <a:spcPts val="800"/>
              </a:spcAft>
              <a:defRPr sz="1600"/>
            </a:pPr>
            <a:r>
              <a:t>Mark where SLA metrics, logging, monitoring and failure recovery are implemented.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5. AWS Services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Compute: [EC2 / ECS / EKS / Lambda]</a:t>
            </a:r>
          </a:p>
          <a:p>
            <a:pPr>
              <a:spcAft>
                <a:spcPts val="800"/>
              </a:spcAft>
              <a:defRPr sz="1800"/>
            </a:pPr>
            <a:r>
              <a:t>Storage: [S3 / EBS / EFS]</a:t>
            </a:r>
          </a:p>
          <a:p>
            <a:pPr>
              <a:spcAft>
                <a:spcPts val="800"/>
              </a:spcAft>
              <a:defRPr sz="1800"/>
            </a:pPr>
            <a:r>
              <a:t>Database: [RDS / DynamoDB / Other]</a:t>
            </a:r>
          </a:p>
          <a:p>
            <a:pPr>
              <a:spcAft>
                <a:spcPts val="800"/>
              </a:spcAft>
              <a:defRPr sz="1800"/>
            </a:pPr>
            <a:r>
              <a:t>Networking: [VPC / Security Groups / Load Balancer / Route 53]</a:t>
            </a:r>
          </a:p>
          <a:p>
            <a:pPr>
              <a:spcAft>
                <a:spcPts val="800"/>
              </a:spcAft>
              <a:defRPr sz="1800"/>
            </a:pPr>
            <a:r>
              <a:t>Monitoring: [CloudWatch / CloudTrail]</a:t>
            </a:r>
          </a:p>
          <a:p>
            <a:pPr>
              <a:spcAft>
                <a:spcPts val="800"/>
              </a:spcAft>
              <a:defRPr sz="1800"/>
            </a:pPr>
            <a:r>
              <a:t>Security: [IAM / Secrets Manager / KMS]</a:t>
            </a:r>
          </a:p>
          <a:p>
            <a:pPr>
              <a:spcAft>
                <a:spcPts val="800"/>
              </a:spcAft>
              <a:defRPr sz="1800"/>
            </a:pPr>
            <a:r>
              <a:t>Deployment / Automation: [ECR / CodePipeline / CodeBuild / Terraform, if used]</a:t>
            </a:r>
          </a:p>
          <a:p>
            <a:pPr>
              <a:spcAft>
                <a:spcPts val="800"/>
              </a:spcAft>
              <a:defRPr sz="1800"/>
            </a:pPr>
            <a:r>
              <a:t>For each service: state WHY it was selected and what role it plays.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6. Docker &amp; Containerization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Application Components: [Frontend / Backend / API / Database / Worker]</a:t>
            </a:r>
          </a:p>
          <a:p>
            <a:pPr>
              <a:spcAft>
                <a:spcPts val="800"/>
              </a:spcAft>
              <a:defRPr sz="1800"/>
            </a:pPr>
            <a:r>
              <a:t>Docker Image: [Image name / version]</a:t>
            </a:r>
          </a:p>
          <a:p>
            <a:pPr>
              <a:spcAft>
                <a:spcPts val="800"/>
              </a:spcAft>
              <a:defRPr sz="1800"/>
            </a:pPr>
            <a:r>
              <a:t>Dockerfile: Base image, dependencies, exposed port and startup command</a:t>
            </a:r>
          </a:p>
          <a:p>
            <a:pPr>
              <a:spcAft>
                <a:spcPts val="800"/>
              </a:spcAft>
              <a:defRPr sz="1800"/>
            </a:pPr>
            <a:r>
              <a:t>Container Networking: [Bridge / Compose network / Cloud networking]</a:t>
            </a:r>
          </a:p>
          <a:p>
            <a:pPr>
              <a:spcAft>
                <a:spcPts val="800"/>
              </a:spcAft>
              <a:defRPr sz="1800"/>
            </a:pPr>
            <a:r>
              <a:t>Persistent Data: [Volume / AWS managed storage]</a:t>
            </a:r>
          </a:p>
          <a:p>
            <a:pPr>
              <a:spcAft>
                <a:spcPts val="800"/>
              </a:spcAft>
              <a:defRPr sz="1800"/>
            </a:pPr>
            <a:r>
              <a:t>Image Registry: [Amazon ECR or other]</a:t>
            </a:r>
          </a:p>
          <a:p>
            <a:pPr>
              <a:spcAft>
                <a:spcPts val="800"/>
              </a:spcAft>
              <a:defRPr sz="1800"/>
            </a:pPr>
            <a:r>
              <a:t>Explain portability, isolation and reproducibility benefits.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7. Virtualization &amp; Cloud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Virtualization Layer: [VM / Hypervisor / Container runtime]</a:t>
            </a:r>
          </a:p>
          <a:p>
            <a:pPr>
              <a:spcAft>
                <a:spcPts val="800"/>
              </a:spcAft>
              <a:defRPr sz="1800"/>
            </a:pPr>
            <a:r>
              <a:t>VM Configuration: vCPU = ___ | RAM = ___ GB | Storage = ___ GB</a:t>
            </a:r>
          </a:p>
          <a:p>
            <a:pPr>
              <a:spcAft>
                <a:spcPts val="800"/>
              </a:spcAft>
              <a:defRPr sz="1800"/>
            </a:pPr>
            <a:r>
              <a:t>Operating System: [Linux / Windows]</a:t>
            </a:r>
          </a:p>
          <a:p>
            <a:pPr>
              <a:spcAft>
                <a:spcPts val="800"/>
              </a:spcAft>
              <a:defRPr sz="1800"/>
            </a:pPr>
            <a:r>
              <a:t>Container vs VM: Explain where each is used and why.</a:t>
            </a:r>
          </a:p>
          <a:p>
            <a:pPr>
              <a:spcAft>
                <a:spcPts val="800"/>
              </a:spcAft>
              <a:defRPr sz="1800"/>
            </a:pPr>
            <a:r>
              <a:t>Resource Allocation: CPU, memory, network and storage requirements.</a:t>
            </a:r>
          </a:p>
          <a:p>
            <a:pPr>
              <a:spcAft>
                <a:spcPts val="800"/>
              </a:spcAft>
              <a:defRPr sz="1800"/>
            </a:pPr>
            <a:r>
              <a:t>Scalability Strategy: Vertical scaling / Horizontal scaling / Auto Scaling.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8. Reliability, Monitoring &amp; TTR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Detection: [CloudWatch metric / log / health check / alert]</a:t>
            </a:r>
          </a:p>
          <a:p>
            <a:pPr>
              <a:spcAft>
                <a:spcPts val="800"/>
              </a:spcAft>
              <a:defRPr sz="1800"/>
            </a:pPr>
            <a:r>
              <a:t>Incident Trigger: [Example failure condition]</a:t>
            </a:r>
          </a:p>
          <a:p>
            <a:pPr>
              <a:spcAft>
                <a:spcPts val="800"/>
              </a:spcAft>
              <a:defRPr sz="1800"/>
            </a:pPr>
            <a:r>
              <a:t>Diagnosis: [Logs, metrics, traces, health checks]</a:t>
            </a:r>
          </a:p>
          <a:p>
            <a:pPr>
              <a:spcAft>
                <a:spcPts val="800"/>
              </a:spcAft>
              <a:defRPr sz="1800"/>
            </a:pPr>
            <a:r>
              <a:t>Recovery Action: [Restart container / replace instance / rollback / scale-out]</a:t>
            </a:r>
          </a:p>
          <a:p>
            <a:pPr>
              <a:spcAft>
                <a:spcPts val="800"/>
              </a:spcAft>
              <a:defRPr sz="1800"/>
            </a:pPr>
            <a:r>
              <a:t>Verification: [Health check + application test]</a:t>
            </a:r>
          </a:p>
          <a:p>
            <a:pPr>
              <a:spcAft>
                <a:spcPts val="800"/>
              </a:spcAft>
              <a:defRPr sz="1800"/>
            </a:pPr>
            <a:r>
              <a:t>TTR Measurement = Detection Time + Diagnosis Time + Recovery Time + Verification Time</a:t>
            </a:r>
          </a:p>
          <a:p>
            <a:pPr>
              <a:spcAft>
                <a:spcPts val="800"/>
              </a:spcAft>
              <a:defRPr sz="1800"/>
            </a:pPr>
            <a:r>
              <a:t>Target TTR: ___ minutes | Measured TTR: ___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9. Performance &amp; SLA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Test Workload: [Concurrent users / requests per second / data volume]</a:t>
            </a:r>
          </a:p>
          <a:p>
            <a:pPr>
              <a:spcAft>
                <a:spcPts val="800"/>
              </a:spcAft>
              <a:defRPr sz="1800"/>
            </a:pPr>
            <a:r>
              <a:t>Latency: Average ___ ms | P95 ___ ms | P99 ___ ms</a:t>
            </a:r>
          </a:p>
          <a:p>
            <a:pPr>
              <a:spcAft>
                <a:spcPts val="800"/>
              </a:spcAft>
              <a:defRPr sz="1800"/>
            </a:pPr>
            <a:r>
              <a:t>Throughput: ___ requests/sec</a:t>
            </a:r>
          </a:p>
          <a:p>
            <a:pPr>
              <a:spcAft>
                <a:spcPts val="800"/>
              </a:spcAft>
              <a:defRPr sz="1800"/>
            </a:pPr>
            <a:r>
              <a:t>Availability Observed: ___ %</a:t>
            </a:r>
          </a:p>
          <a:p>
            <a:pPr>
              <a:spcAft>
                <a:spcPts val="800"/>
              </a:spcAft>
              <a:defRPr sz="1800"/>
            </a:pPr>
            <a:r>
              <a:t>Failure Injection: [Container crash / instance failure / network interruption]</a:t>
            </a:r>
          </a:p>
          <a:p>
            <a:pPr>
              <a:spcAft>
                <a:spcPts val="800"/>
              </a:spcAft>
              <a:defRPr sz="1800"/>
            </a:pPr>
            <a:r>
              <a:t>TTR Observed: ___ minutes</a:t>
            </a:r>
          </a:p>
          <a:p>
            <a:pPr>
              <a:spcAft>
                <a:spcPts val="800"/>
              </a:spcAft>
              <a:defRPr sz="1800"/>
            </a:pPr>
            <a:r>
              <a:t>SLA Result: [Met / Partially Met / Not Met — supported by measurements]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10. Security &amp; Cost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IAM: Least-privilege access and role-based permissions</a:t>
            </a:r>
          </a:p>
          <a:p>
            <a:pPr>
              <a:spcAft>
                <a:spcPts val="800"/>
              </a:spcAft>
              <a:defRPr sz="1800"/>
            </a:pPr>
            <a:r>
              <a:t>Network Security: VPC, security groups, restricted ports</a:t>
            </a:r>
          </a:p>
          <a:p>
            <a:pPr>
              <a:spcAft>
                <a:spcPts val="800"/>
              </a:spcAft>
              <a:defRPr sz="1800"/>
            </a:pPr>
            <a:r>
              <a:t>Secrets: No credentials hard-coded in source code or Docker images</a:t>
            </a:r>
          </a:p>
          <a:p>
            <a:pPr>
              <a:spcAft>
                <a:spcPts val="800"/>
              </a:spcAft>
              <a:defRPr sz="1800"/>
            </a:pPr>
            <a:r>
              <a:t>Data Protection: Encryption at rest / in transit</a:t>
            </a:r>
          </a:p>
          <a:p>
            <a:pPr>
              <a:spcAft>
                <a:spcPts val="800"/>
              </a:spcAft>
              <a:defRPr sz="1800"/>
            </a:pPr>
            <a:r>
              <a:t>Cost Model: Compute + Storage + Database + Network + Monitoring</a:t>
            </a:r>
          </a:p>
          <a:p>
            <a:pPr>
              <a:spcAft>
                <a:spcPts val="800"/>
              </a:spcAft>
              <a:defRPr sz="1800"/>
            </a:pPr>
            <a:r>
              <a:t>Estimated Monthly Cost: ₹ ______ / month</a:t>
            </a:r>
          </a:p>
          <a:p>
            <a:pPr>
              <a:spcAft>
                <a:spcPts val="800"/>
              </a:spcAft>
              <a:defRPr sz="1800"/>
            </a:pPr>
            <a:r>
              <a:t>Optimization: Right-sizing, auto-scaling, scheduled shutdown, managed services.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11. Demonstration / Deployment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GitHub / Repository: [URL]</a:t>
            </a:r>
          </a:p>
          <a:p>
            <a:pPr>
              <a:spcAft>
                <a:spcPts val="800"/>
              </a:spcAft>
              <a:defRPr sz="1800"/>
            </a:pPr>
            <a:r>
              <a:t>Docker Build &amp; Run: [Command / screenshot]</a:t>
            </a:r>
          </a:p>
          <a:p>
            <a:pPr>
              <a:spcAft>
                <a:spcPts val="800"/>
              </a:spcAft>
              <a:defRPr sz="1800"/>
            </a:pPr>
            <a:r>
              <a:t>AWS Deployment: [Screenshot / architecture]</a:t>
            </a:r>
          </a:p>
          <a:p>
            <a:pPr>
              <a:spcAft>
                <a:spcPts val="800"/>
              </a:spcAft>
              <a:defRPr sz="1800"/>
            </a:pPr>
            <a:r>
              <a:t>Application URL / Endpoint: [URL]</a:t>
            </a:r>
          </a:p>
          <a:p>
            <a:pPr>
              <a:spcAft>
                <a:spcPts val="800"/>
              </a:spcAft>
              <a:defRPr sz="1800"/>
            </a:pPr>
            <a:r>
              <a:t>CloudWatch / Monitoring Dashboard: [Screenshot]</a:t>
            </a:r>
          </a:p>
          <a:p>
            <a:pPr>
              <a:spcAft>
                <a:spcPts val="800"/>
              </a:spcAft>
              <a:defRPr sz="1800"/>
            </a:pPr>
            <a:r>
              <a:t>Failure &amp; Recovery Demonstration: [Before → Failure → Recovery]</a:t>
            </a:r>
          </a:p>
          <a:p>
            <a:pPr>
              <a:spcAft>
                <a:spcPts val="800"/>
              </a:spcAft>
              <a:defRPr sz="1800"/>
            </a:pPr>
            <a:r>
              <a:t>Include 2–4 screenshots or a short live demonstration.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12. Results &amp;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Functional Outcome: What was successfully implemented?</a:t>
            </a:r>
          </a:p>
          <a:p>
            <a:pPr>
              <a:spcAft>
                <a:spcPts val="800"/>
              </a:spcAft>
              <a:defRPr sz="1800"/>
            </a:pPr>
            <a:r>
              <a:t>SLA Achievement: Target vs Observed</a:t>
            </a:r>
          </a:p>
          <a:p>
            <a:pPr>
              <a:spcAft>
                <a:spcPts val="800"/>
              </a:spcAft>
              <a:defRPr sz="1800"/>
            </a:pPr>
            <a:r>
              <a:t>TTR Achievement: Target vs Observed</a:t>
            </a:r>
          </a:p>
          <a:p>
            <a:pPr>
              <a:spcAft>
                <a:spcPts val="800"/>
              </a:spcAft>
              <a:defRPr sz="1800"/>
            </a:pPr>
            <a:r>
              <a:t>Performance: Key latency/throughput results</a:t>
            </a:r>
          </a:p>
          <a:p>
            <a:pPr>
              <a:spcAft>
                <a:spcPts val="800"/>
              </a:spcAft>
              <a:defRPr sz="1800"/>
            </a:pPr>
            <a:r>
              <a:t>Reliability: Failure scenarios successfully handled</a:t>
            </a:r>
          </a:p>
          <a:p>
            <a:pPr>
              <a:spcAft>
                <a:spcPts val="800"/>
              </a:spcAft>
              <a:defRPr sz="1800"/>
            </a:pPr>
            <a:r>
              <a:t>Cloud Benefits: Scalability, availability, automation, operational visibility</a:t>
            </a:r>
          </a:p>
          <a:p>
            <a:pPr>
              <a:spcAft>
                <a:spcPts val="800"/>
              </a:spcAft>
              <a:defRPr sz="1800"/>
            </a:pPr>
            <a:r>
              <a:t>Limitations: [What remains to be improved?]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13. 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Conclusion: Summarize the complete cloud application pipeline in 2–3 points.</a:t>
            </a:r>
          </a:p>
          <a:p>
            <a:pPr>
              <a:spcAft>
                <a:spcPts val="800"/>
              </a:spcAft>
              <a:defRPr sz="1800"/>
            </a:pPr>
            <a:r>
              <a:t>Future Work: Kubernetes/EKS, CI/CD, Infrastructure as Code, serverless components, advanced observability, multi-region deployment.</a:t>
            </a:r>
          </a:p>
          <a:p>
            <a:pPr>
              <a:spcAft>
                <a:spcPts val="800"/>
              </a:spcAft>
              <a:defRPr sz="1800"/>
            </a:pPr>
            <a:r>
              <a:t>Business Extension: How can the prototype become an industry-ready solution?</a:t>
            </a:r>
          </a:p>
          <a:p>
            <a:pPr>
              <a:spcAft>
                <a:spcPts val="800"/>
              </a:spcAft>
              <a:defRPr sz="1800"/>
            </a:pPr>
            <a:r>
              <a:t>Learning Outcomes: AWS + Docker + virtualization + SLA/TTR + cloud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14. Evaluation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☐ Clear industry use case and problem statement</a:t>
            </a:r>
          </a:p>
          <a:p>
            <a:pPr>
              <a:spcAft>
                <a:spcPts val="800"/>
              </a:spcAft>
              <a:defRPr sz="1600"/>
            </a:pPr>
            <a:r>
              <a:t>☐ End-to-end cloud architecture</a:t>
            </a:r>
          </a:p>
          <a:p>
            <a:pPr>
              <a:spcAft>
                <a:spcPts val="800"/>
              </a:spcAft>
              <a:defRPr sz="1600"/>
            </a:pPr>
            <a:r>
              <a:t>☐ At least 3–5 relevant AWS services with justification</a:t>
            </a:r>
          </a:p>
          <a:p>
            <a:pPr>
              <a:spcAft>
                <a:spcPts val="800"/>
              </a:spcAft>
              <a:defRPr sz="1600"/>
            </a:pPr>
            <a:r>
              <a:t>☐ Dockerized application</a:t>
            </a:r>
          </a:p>
          <a:p>
            <a:pPr>
              <a:spcAft>
                <a:spcPts val="800"/>
              </a:spcAft>
              <a:defRPr sz="1600"/>
            </a:pPr>
            <a:r>
              <a:t>☐ Virtualization / VM / container infrastructure explained</a:t>
            </a:r>
          </a:p>
          <a:p>
            <a:pPr>
              <a:spcAft>
                <a:spcPts val="800"/>
              </a:spcAft>
              <a:defRPr sz="1600"/>
            </a:pPr>
            <a:r>
              <a:t>☐ Explicit SLA metrics and measurable targets</a:t>
            </a:r>
          </a:p>
          <a:p>
            <a:pPr>
              <a:spcAft>
                <a:spcPts val="800"/>
              </a:spcAft>
              <a:defRPr sz="1600"/>
            </a:pPr>
            <a:r>
              <a:t>☐ TTR defined and experimentally measured</a:t>
            </a:r>
          </a:p>
          <a:p>
            <a:pPr>
              <a:spcAft>
                <a:spcPts val="800"/>
              </a:spcAft>
              <a:defRPr sz="1600"/>
            </a:pPr>
            <a:r>
              <a:t>☐ Failure/recovery scenario demonstrated</a:t>
            </a:r>
          </a:p>
          <a:p>
            <a:pPr>
              <a:spcAft>
                <a:spcPts val="800"/>
              </a:spcAft>
              <a:defRPr sz="1600"/>
            </a:pPr>
            <a:r>
              <a:t>☐ Monitoring/logging evidence</a:t>
            </a:r>
          </a:p>
          <a:p>
            <a:pPr>
              <a:spcAft>
                <a:spcPts val="800"/>
              </a:spcAft>
              <a:defRPr sz="1600"/>
            </a:pPr>
            <a:r>
              <a:t>☐ Performance, security and cost discussion</a:t>
            </a:r>
          </a:p>
          <a:p>
            <a:pPr>
              <a:spcAft>
                <a:spcPts val="800"/>
              </a:spcAft>
              <a:defRPr sz="1600"/>
            </a:pPr>
            <a:r>
              <a:t>☐ Working demo + repository/documentation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Questions &amp; Demonstration</a:t>
            </a:r>
          </a:p>
          <a:p>
            <a:pPr algn="ctr">
              <a:defRPr sz="1800"/>
            </a:pPr>
            <a:r>
              <a:t>Industry Use Case | Cloud | AWS | Docker | Virtualization | SLA | TTR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