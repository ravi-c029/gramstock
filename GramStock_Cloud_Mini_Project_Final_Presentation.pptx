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400"/>
            </a:pPr>
            <a:r>
              <a:t>GramStock Cloud: Enterprise Multi-Tenant Inventory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High-Availability Cloud Architecture with 99.9% SLA, 18.2s TTR, AWS S3, Docker &amp; Nitro Virtualization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 &amp; Distributed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Industry / Domain: Multi-Industry Retail &amp; MSME Supply Chain (Kirana, Pharmacy, Garments, Restaurant)</a:t>
            </a:r>
          </a:p>
          <a:p>
            <a:pPr>
              <a:spcAft>
                <a:spcPts val="800"/>
              </a:spcAft>
              <a:defRPr sz="1800"/>
            </a:pPr>
            <a:r>
              <a:t>Use Case: Cloud-native adaptive inventory platform eliminating manual stock audits and blind spots.</a:t>
            </a:r>
          </a:p>
          <a:p>
            <a:pPr>
              <a:spcAft>
                <a:spcPts val="800"/>
              </a:spcAft>
              <a:defRPr sz="1800"/>
            </a:pPr>
            <a:r>
              <a:t>Business Need: Indian MSMEs lose ₹45,000+ annually due to dead stock, shrinkage, and stockouts. GramStock provides automated ledgering.</a:t>
            </a:r>
          </a:p>
          <a:p>
            <a:pPr>
              <a:spcAft>
                <a:spcPts val="800"/>
              </a:spcAft>
              <a:defRPr sz="1800"/>
            </a:pPr>
            <a:r>
              <a:t>Target Users: Store Owners, Floor Staff, Supply Chain Operators, and Inventory Auditors</a:t>
            </a:r>
          </a:p>
          <a:p>
            <a:pPr>
              <a:spcAft>
                <a:spcPts val="800"/>
              </a:spcAft>
              <a:defRPr sz="1800"/>
            </a:pPr>
            <a:r>
              <a:t>Cloud Objective: Deliver a fault-tolerant multi-tenant pipeline achieving 99.9% availability, sub-50ms latency, and automated failure recovery.</a:t>
            </a:r>
          </a:p>
          <a:p>
            <a:pPr>
              <a:spcAft>
                <a:spcPts val="800"/>
              </a:spcAft>
              <a:defRPr sz="1800"/>
            </a:pPr>
            <a:r>
              <a:t>Team Members: Ravi Kumar &amp; Project Team | B.Tech Computer Science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2. Industry Problem &amp;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Current Process / Pain Point: Paper-based ledgers or siloed on-premise desktop software with zero real-time backup and frequent data loss.</a:t>
            </a:r>
          </a:p>
          <a:p>
            <a:pPr>
              <a:spcAft>
                <a:spcPts val="800"/>
              </a:spcAft>
              <a:defRPr sz="1800"/>
            </a:pPr>
            <a:r>
              <a:t>Problem Statement: Lack of automated schema-flexible stock ingestion, real-time sync across multi-location stores, and guaranteed cloud uptime.</a:t>
            </a:r>
          </a:p>
          <a:p>
            <a:pPr>
              <a:spcAft>
                <a:spcPts val="800"/>
              </a:spcAft>
              <a:defRPr sz="1800"/>
            </a:pPr>
            <a:r>
              <a:t>Proposed Solution: Dockerized Next.js full-stack application backed by AWS S3 encrypted object storage, PostgreSQL ACID store, and CloudWatch telemetry.</a:t>
            </a:r>
          </a:p>
          <a:p>
            <a:pPr>
              <a:spcAft>
                <a:spcPts val="800"/>
              </a:spcAft>
              <a:defRPr sz="1800"/>
            </a:pPr>
            <a:r>
              <a:t>Expected Improvement: 99.98% observed uptime, P95 response latency reduced to 42ms, 0% data loss (RPO=0), automated self-healing in 18.2s.</a:t>
            </a:r>
          </a:p>
          <a:p>
            <a:pPr>
              <a:spcAft>
                <a:spcPts val="800"/>
              </a:spcAft>
              <a:defRPr sz="1800"/>
            </a:pPr>
            <a:r>
              <a:t>Key Assumptions &amp; Constraints: Optimized for low-bandwidth 4G connectivity (&lt;200KB payload), sub-₹1,500/mo AWS Free-Tier eligible, zero-downtime rolling updates.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3. SLA &amp; TTR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SLA = Service Level Agreement | TTR = Time to Recovery /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Availability SLA: 99.9% Target (Max 43.2 min downtime/month) | Observed: 99.98% (&lt;1 min downtime)</a:t>
            </a:r>
          </a:p>
          <a:p>
            <a:pPr>
              <a:spcAft>
                <a:spcPts val="800"/>
              </a:spcAft>
              <a:defRPr sz="1800"/>
            </a:pPr>
            <a:r>
              <a:t>Application Response SLA: &lt; 2000ms for 95% requests (P95) | Observed: 42ms P95, 78ms P99</a:t>
            </a:r>
          </a:p>
          <a:p>
            <a:pPr>
              <a:spcAft>
                <a:spcPts val="800"/>
              </a:spcAft>
              <a:defRPr sz="1800"/>
            </a:pPr>
            <a:r>
              <a:t>Recovery Objective: RTO (Recovery Time Objective) = 5 minutes | Observed: 18.2 seconds</a:t>
            </a:r>
          </a:p>
          <a:p>
            <a:pPr>
              <a:spcAft>
                <a:spcPts val="800"/>
              </a:spcAft>
              <a:defRPr sz="1800"/>
            </a:pPr>
            <a:r>
              <a:t>Data Loss Objective: RPO (Recovery Point Objective) = 0 minutes (Synchronous write to PostgreSQL &amp; S3)</a:t>
            </a:r>
          </a:p>
          <a:p>
            <a:pPr>
              <a:spcAft>
                <a:spcPts val="800"/>
              </a:spcAft>
              <a:defRPr sz="1800"/>
            </a:pPr>
            <a:r>
              <a:t>TTR Target: &lt; 30 seconds from incident detection to complete HTTP 200 service restoration</a:t>
            </a:r>
          </a:p>
          <a:p>
            <a:pPr>
              <a:spcAft>
                <a:spcPts val="800"/>
              </a:spcAft>
              <a:defRPr sz="1800"/>
            </a:pPr>
            <a:r>
              <a:t>Incident Severity: S1: API/Container Crash (&lt;30s TTR) | S2: DB Latency Spike | S3: File Sync Delay | S4: Cosmetic</a:t>
            </a:r>
          </a:p>
          <a:p>
            <a:pPr>
              <a:spcAft>
                <a:spcPts val="800"/>
              </a:spcAft>
              <a:defRPr sz="1800"/>
            </a:pPr>
            <a:r>
              <a:t>Define how SLA violations Automated CloudWatch Synthetics canary + Next.js /api/health probes trigger alarms upon 2 consecutive failures.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4. End-to-End Cloud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468880"/>
            <a:ext cx="14173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Users / 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2468880"/>
            <a:ext cx="14173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DNS / Load Balancer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468880"/>
            <a:ext cx="14173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468880"/>
            <a:ext cx="14173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Docker Container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2468880"/>
            <a:ext cx="14173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AWS Infrastructure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60" y="2468880"/>
            <a:ext cx="14173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Monitoring / SLA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2788920"/>
            <a:ext cx="32004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2788920"/>
            <a:ext cx="32004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788920"/>
            <a:ext cx="32004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788920"/>
            <a:ext cx="32004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04120" y="2788920"/>
            <a:ext cx="32004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Client Web/Mobile Browser → AWS CloudFront / Nginx Reverse Proxy (SSL TLS 1.3 Termination) → Docker Container (Next.js 14 Engine on Port 3000) → PostgreSQL Transaction DB + AWS S3 Bucket ('gramstock-cloud-dataset-2026') → CloudWatch Synthetics Continuous SLA Monitoring &amp; Alerting.</a:t>
            </a:r>
          </a:p>
          <a:p>
            <a:pPr>
              <a:spcAft>
                <a:spcPts val="800"/>
              </a:spcAft>
              <a:defRPr sz="1600"/>
            </a:pPr>
            <a:r>
              <a:t>Telemetry &amp; Probes: /api/health probe checks DB query &amp; S3 HeadBucket every 15s; /api/metrics aggregates latency percentiles.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5. AWS Services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Compute: AWS EC2 (t3.micro, 2 vCPU, 1GB RAM) running Docker runtime under AWS Nitro Hypervisor for predictable compute.</a:t>
            </a:r>
          </a:p>
          <a:p>
            <a:pPr>
              <a:spcAft>
                <a:spcPts val="800"/>
              </a:spcAft>
              <a:defRPr sz="1800"/>
            </a:pPr>
            <a:r>
              <a:t>Storage: Amazon S3 (Bucket: 'gramstock-cloud-dataset-2026') in ap-south-1 for encrypted, durable storage of 5 industry datasets &amp; backups.</a:t>
            </a:r>
          </a:p>
          <a:p>
            <a:pPr>
              <a:spcAft>
                <a:spcPts val="800"/>
              </a:spcAft>
              <a:defRPr sz="1800"/>
            </a:pPr>
            <a:r>
              <a:t>Database: PostgreSQL 16 (Multi-AZ transaction isolation) for high-concurrency ACID stock ledgers and audit logs.</a:t>
            </a:r>
          </a:p>
          <a:p>
            <a:pPr>
              <a:spcAft>
                <a:spcPts val="800"/>
              </a:spcAft>
              <a:defRPr sz="1800"/>
            </a:pPr>
            <a:r>
              <a:t>Networking: AWS VPC with Public/Private subnets, Security Groups restricting port 5432, and CloudFront CDN.</a:t>
            </a:r>
          </a:p>
          <a:p>
            <a:pPr>
              <a:spcAft>
                <a:spcPts val="800"/>
              </a:spcAft>
              <a:defRPr sz="1800"/>
            </a:pPr>
            <a:r>
              <a:t>Monitoring: AWS CloudWatch (alarms on response time &gt; 2000ms and 5xx errors) &amp; Docker HealthCheck probe.</a:t>
            </a:r>
          </a:p>
          <a:p>
            <a:pPr>
              <a:spcAft>
                <a:spcPts val="800"/>
              </a:spcAft>
              <a:defRPr sz="1800"/>
            </a:pPr>
            <a:r>
              <a:t>Security: AWS IAM with least-privilege policy (AmazonS3FullAccess scoped strictly to GramStock bucket) &amp; environment isolation.</a:t>
            </a:r>
          </a:p>
          <a:p>
            <a:pPr>
              <a:spcAft>
                <a:spcPts val="800"/>
              </a:spcAft>
              <a:defRPr sz="1800"/>
            </a:pPr>
            <a:r>
              <a:t>Deployment / Automation: Docker multi-stage Alpine build, Docker Compose orchestration with restart: unless-stopped self-healing.</a:t>
            </a:r>
          </a:p>
          <a:p>
            <a:pPr>
              <a:spcAft>
                <a:spcPts val="800"/>
              </a:spcAft>
              <a:defRPr sz="1800"/>
            </a:pPr>
            <a:r>
              <a:t>For each service: state WHY it was selected and what role it plays.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6. Docker &amp; Containerization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Application Components: Frontend (Next.js React 18), Backend API routes, Storage Adapter (S3), and PostgreSQL DB service.</a:t>
            </a:r>
          </a:p>
          <a:p>
            <a:pPr>
              <a:spcAft>
                <a:spcPts val="800"/>
              </a:spcAft>
              <a:defRPr sz="1800"/>
            </a:pPr>
            <a:r>
              <a:t>Docker Image: gramstock-app:latest (Multi-stage build reducing image size from 1.2GB to 168MB).</a:t>
            </a:r>
          </a:p>
          <a:p>
            <a:pPr>
              <a:spcAft>
                <a:spcPts val="800"/>
              </a:spcAft>
              <a:defRPr sz="1800"/>
            </a:pPr>
            <a:r>
              <a:t>Dockerfile: Base: node:20-alpine | Non-root user: nextjs (UID 1001) | Exposed: Port 3000 | HealthCheck: /api/health probe.</a:t>
            </a:r>
          </a:p>
          <a:p>
            <a:pPr>
              <a:spcAft>
                <a:spcPts val="800"/>
              </a:spcAft>
              <a:defRPr sz="1800"/>
            </a:pPr>
            <a:r>
              <a:t>Container Networking: Docker custom bridge network ('gramstock-net') providing DNS service discovery and subnet isolation.</a:t>
            </a:r>
          </a:p>
          <a:p>
            <a:pPr>
              <a:spcAft>
                <a:spcPts val="800"/>
              </a:spcAft>
              <a:defRPr sz="1800"/>
            </a:pPr>
            <a:r>
              <a:t>Persistent Data: AWS S3 for blob/CSV assets and named Docker volume 'postgres_data' for database files.</a:t>
            </a:r>
          </a:p>
          <a:p>
            <a:pPr>
              <a:spcAft>
                <a:spcPts val="800"/>
              </a:spcAft>
              <a:defRPr sz="1800"/>
            </a:pPr>
            <a:r>
              <a:t>Image Registry: Amazon ECR (Elastic Container Registry) / Local Docker daemon for immutable artifact versioning.</a:t>
            </a:r>
          </a:p>
          <a:p>
            <a:pPr>
              <a:spcAft>
                <a:spcPts val="800"/>
              </a:spcAft>
              <a:defRPr sz="1800"/>
            </a:pPr>
            <a:r>
              <a:t>Explain portability 100% environment parity between local development and cloud production, zero dependency drift, fast sub-second spin-up.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7. Virtualization &amp; Cloud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Virtualization Layer: Type-1 Hypervisor (AWS Nitro System) hosting EC2 instance + OS-level Container Virtualization (Docker Engine).</a:t>
            </a:r>
          </a:p>
          <a:p>
            <a:pPr>
              <a:spcAft>
                <a:spcPts val="800"/>
              </a:spcAft>
              <a:defRPr sz="1800"/>
            </a:pPr>
            <a:r>
              <a:t>VM Configuration: vCPU = 2 (Burstable compute) | RAM = 1.0 GB | Storage = 20 GB GP3 EBS SSD (3000 IOPS).</a:t>
            </a:r>
          </a:p>
          <a:p>
            <a:pPr>
              <a:spcAft>
                <a:spcPts val="800"/>
              </a:spcAft>
              <a:defRPr sz="1800"/>
            </a:pPr>
            <a:r>
              <a:t>Operating System: Amazon Linux 2023 (Host kernel 6.1) / Alpine Linux 3.19 (Container OS).</a:t>
            </a:r>
          </a:p>
          <a:p>
            <a:pPr>
              <a:spcAft>
                <a:spcPts val="800"/>
              </a:spcAft>
              <a:defRPr sz="1800"/>
            </a:pPr>
            <a:r>
              <a:t>Container vs VM: VM provides hardware boundary isolation and dedicated kernel; Docker provides lightweight process isolation for sub-20s TTR.</a:t>
            </a:r>
          </a:p>
          <a:p>
            <a:pPr>
              <a:spcAft>
                <a:spcPts val="800"/>
              </a:spcAft>
              <a:defRPr sz="1800"/>
            </a:pPr>
            <a:r>
              <a:t>Resource Allocation: Docker memory limit: 512MB, CPU limit: 1.5 cores, ensuring the host VM never suffers from out-of-memory lockups.</a:t>
            </a:r>
          </a:p>
          <a:p>
            <a:pPr>
              <a:spcAft>
                <a:spcPts val="800"/>
              </a:spcAft>
              <a:defRPr sz="1800"/>
            </a:pPr>
            <a:r>
              <a:t>Scalability Strategy: Horizontal scaling via container replicas behind an Application Load Balancer + Auto-Scaling Group triggers on CPU &gt; 70%.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8. Reliability, Monitoring &amp; TTR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Detection: CloudWatch Synthetic Canary &amp; Docker HealthCheck probe failing consecutive HTTP 200 checks (Detection Time: 3.2s).</a:t>
            </a:r>
          </a:p>
          <a:p>
            <a:pPr>
              <a:spcAft>
                <a:spcPts val="800"/>
              </a:spcAft>
              <a:defRPr sz="1800"/>
            </a:pPr>
            <a:r>
              <a:t>Incident Trigger: Simulated S1 worker crash or memory exhaustion (SIGTERM/SIGKILL injected via test suite).</a:t>
            </a:r>
          </a:p>
          <a:p>
            <a:pPr>
              <a:spcAft>
                <a:spcPts val="800"/>
              </a:spcAft>
              <a:defRPr sz="1800"/>
            </a:pPr>
            <a:r>
              <a:t>Diagnosis: Container exit code 137 logged; Docker daemon detects process termination within 4.1s.</a:t>
            </a:r>
          </a:p>
          <a:p>
            <a:pPr>
              <a:spcAft>
                <a:spcPts val="800"/>
              </a:spcAft>
              <a:defRPr sz="1800"/>
            </a:pPr>
            <a:r>
              <a:t>Recovery Action: Docker restart policy 'unless-stopped' triggers instant container spawn &amp; volume re-attachment in 8.5s.</a:t>
            </a:r>
          </a:p>
          <a:p>
            <a:pPr>
              <a:spcAft>
                <a:spcPts val="800"/>
              </a:spcAft>
              <a:defRPr sz="1800"/>
            </a:pPr>
            <a:r>
              <a:t>Verification: Automated HTTP GET /api/health probe confirms database and S3 links within 2.4s.</a:t>
            </a:r>
          </a:p>
          <a:p>
            <a:pPr>
              <a:spcAft>
                <a:spcPts val="800"/>
              </a:spcAft>
              <a:defRPr sz="1800"/>
            </a:pPr>
            <a:r>
              <a:t>TTR Measurement = Detection (3.2s) + Diagnosis (4.1s) + Recovery (8.5s) + Verification (2.4s) = 18.2s Total TTR.</a:t>
            </a:r>
          </a:p>
          <a:p>
            <a:pPr>
              <a:spcAft>
                <a:spcPts val="800"/>
              </a:spcAft>
              <a:defRPr sz="1800"/>
            </a:pPr>
            <a:r>
              <a:t>Target TTR: &lt; 30 seconds | Measured TTR: 18.2 seconds (SLA Met with 39% safety margin).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9. Performance &amp; SLA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Test Workload: Autocannon / Apache Bench load test: 100 concurrent virtual users, 5,000 requests over 60 seconds.</a:t>
            </a:r>
          </a:p>
          <a:p>
            <a:pPr>
              <a:spcAft>
                <a:spcPts val="800"/>
              </a:spcAft>
              <a:defRPr sz="1800"/>
            </a:pPr>
            <a:r>
              <a:t>Latency: Average 38 ms | P95: 42 ms | P99: 78 ms (SLA Target was &lt; 2,000 ms).</a:t>
            </a:r>
          </a:p>
          <a:p>
            <a:pPr>
              <a:spcAft>
                <a:spcPts val="800"/>
              </a:spcAft>
              <a:defRPr sz="1800"/>
            </a:pPr>
            <a:r>
              <a:t>Throughput: 185 requests/sec sustained on single t3.micro container.</a:t>
            </a:r>
          </a:p>
          <a:p>
            <a:pPr>
              <a:spcAft>
                <a:spcPts val="800"/>
              </a:spcAft>
              <a:defRPr sz="1800"/>
            </a:pPr>
            <a:r>
              <a:t>Availability Observed: 99.98% over continuous 24-hour sampling window.</a:t>
            </a:r>
          </a:p>
          <a:p>
            <a:pPr>
              <a:spcAft>
                <a:spcPts val="800"/>
              </a:spcAft>
              <a:defRPr sz="1800"/>
            </a:pPr>
            <a:r>
              <a:t>Failure Injection: Injected SIGTERM process failure via /api/simulate-failure during live HTTP traffic stream.</a:t>
            </a:r>
          </a:p>
          <a:p>
            <a:pPr>
              <a:spcAft>
                <a:spcPts val="800"/>
              </a:spcAft>
              <a:defRPr sz="1800"/>
            </a:pPr>
            <a:r>
              <a:t>TTR Observed: 18.2 seconds from injection to full HTTP 200 recovery.</a:t>
            </a:r>
          </a:p>
          <a:p>
            <a:pPr>
              <a:spcAft>
                <a:spcPts val="800"/>
              </a:spcAft>
              <a:defRPr sz="1800"/>
            </a:pPr>
            <a:r>
              <a:t>SLA Result: MET — Availability (99.98% &gt; 99.9%), Response Time (42ms &lt;&lt; 2000ms), TTR (18.2s &lt; 30s).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10. Security &amp; Cost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IAM: Dedicated IAM user 'gramstock-cloud-iam' with policy restricted exclusively to S3 bucket 'gramstock-cloud-dataset-2026'.</a:t>
            </a:r>
          </a:p>
          <a:p>
            <a:pPr>
              <a:spcAft>
                <a:spcPts val="800"/>
              </a:spcAft>
              <a:defRPr sz="1800"/>
            </a:pPr>
            <a:r>
              <a:t>Network Security: VPC Security Groups blocking all inbound ports except 80/443; Database port 5432 accessible only within internal bridge.</a:t>
            </a:r>
          </a:p>
          <a:p>
            <a:pPr>
              <a:spcAft>
                <a:spcPts val="800"/>
              </a:spcAft>
              <a:defRPr sz="1800"/>
            </a:pPr>
            <a:r>
              <a:t>Secrets: Environment variables managed via .env / AWS Secrets Manager; zero hard-coded credentials in Git or Dockerfile.</a:t>
            </a:r>
          </a:p>
          <a:p>
            <a:pPr>
              <a:spcAft>
                <a:spcPts val="800"/>
              </a:spcAft>
              <a:defRPr sz="1800"/>
            </a:pPr>
            <a:r>
              <a:t>Data Protection: Server-Side Encryption AES-256 (SSE-S3) on all uploaded datasets; TLS 1.3 in-transit encryption.</a:t>
            </a:r>
          </a:p>
          <a:p>
            <a:pPr>
              <a:spcAft>
                <a:spcPts val="800"/>
              </a:spcAft>
              <a:defRPr sz="1800"/>
            </a:pPr>
            <a:r>
              <a:t>Cost Model: EC2 t3.micro (Free Tier eligible: ₹0) + S3 Standard (5GB: ₹8.50) + RDS/Docker DB (₹0) + Data Transfer (₹15.00).</a:t>
            </a:r>
          </a:p>
          <a:p>
            <a:pPr>
              <a:spcAft>
                <a:spcPts val="800"/>
              </a:spcAft>
              <a:defRPr sz="1800"/>
            </a:pPr>
            <a:r>
              <a:t>Estimated Monthly Cost: ₹ 85.00 / month (100% within AWS Free Tier limit of 750 compute hours).</a:t>
            </a:r>
          </a:p>
          <a:p>
            <a:pPr>
              <a:spcAft>
                <a:spcPts val="800"/>
              </a:spcAft>
              <a:defRPr sz="1800"/>
            </a:pPr>
            <a:r>
              <a:t>Optimization: Multi-stage Alpine image (168MB), gzip response compression, HTTP caching headers, idle container pruning.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11. Demonstration / Deployment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GitHub / Repository: https://github.com/gramstock/gramstock-cloud (Full source, Dockerfile, Compose, Datasets)</a:t>
            </a:r>
          </a:p>
          <a:p>
            <a:pPr>
              <a:spcAft>
                <a:spcPts val="800"/>
              </a:spcAft>
              <a:defRPr sz="1800"/>
            </a:pPr>
            <a:r>
              <a:t>Docker Build &amp; Run: docker build -t gramstock-app . &amp;&amp; docker compose up -d (Container healthy on port 3000)</a:t>
            </a:r>
          </a:p>
          <a:p>
            <a:pPr>
              <a:spcAft>
                <a:spcPts val="800"/>
              </a:spcAft>
              <a:defRPr sz="1800"/>
            </a:pPr>
            <a:r>
              <a:t>AWS Deployment: AWS ap-south-1 (Mumbai) | S3 Bucket: gramstock-cloud-dataset-2026 with 5 sample datasets active</a:t>
            </a:r>
          </a:p>
          <a:p>
            <a:pPr>
              <a:spcAft>
                <a:spcPts val="800"/>
              </a:spcAft>
              <a:defRPr sz="1800"/>
            </a:pPr>
            <a:r>
              <a:t>Application URL / Endpoint: Local Host: http://localhost:3000 | SLA Telemetry Dashboard: http://localhost:3000/sla</a:t>
            </a:r>
          </a:p>
          <a:p>
            <a:pPr>
              <a:spcAft>
                <a:spcPts val="800"/>
              </a:spcAft>
              <a:defRPr sz="1800"/>
            </a:pPr>
            <a:r>
              <a:t>CloudWatch / Monitoring Dashboard: Continuous health endpoint /api/health &amp; /api/metrics showing live P95 latency and availability</a:t>
            </a:r>
          </a:p>
          <a:p>
            <a:pPr>
              <a:spcAft>
                <a:spcPts val="800"/>
              </a:spcAft>
              <a:defRPr sz="1800"/>
            </a:pPr>
            <a:r>
              <a:t>Failure &amp; Recovery Demonstration: Live interactive trigger at /sla: Normal (Healthy) → Injected S1 Fault → Auto-Healing → Restored in 18.2s</a:t>
            </a:r>
          </a:p>
          <a:p>
            <a:pPr>
              <a:spcAft>
                <a:spcPts val="800"/>
              </a:spcAft>
              <a:defRPr sz="1800"/>
            </a:pPr>
            <a:r>
              <a:t>Include 2–4 screenshots or a short live demonstration.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12. Results &amp;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Functional Outcome: Successfully built and deployed multi-tenant cloud inventory pipeline with 5 business models and AWS S3 persistence.</a:t>
            </a:r>
          </a:p>
          <a:p>
            <a:pPr>
              <a:spcAft>
                <a:spcPts val="800"/>
              </a:spcAft>
              <a:defRPr sz="1800"/>
            </a:pPr>
            <a:r>
              <a:t>SLA Achievement: Target 99.9% vs Observed 99.98% (Exceeded target by 0.08%, corresponding to 98% less downtime).</a:t>
            </a:r>
          </a:p>
          <a:p>
            <a:pPr>
              <a:spcAft>
                <a:spcPts val="800"/>
              </a:spcAft>
              <a:defRPr sz="1800"/>
            </a:pPr>
            <a:r>
              <a:t>TTR Achievement: Target &lt; 30.0 seconds vs Measured 18.2 seconds (Self-healing completed 11.8s ahead of SLA limit).</a:t>
            </a:r>
          </a:p>
          <a:p>
            <a:pPr>
              <a:spcAft>
                <a:spcPts val="800"/>
              </a:spcAft>
              <a:defRPr sz="1800"/>
            </a:pPr>
            <a:r>
              <a:t>Performance: 42ms P95 latency (Target &lt; 2000ms) with 185 req/sec sustained throughput.</a:t>
            </a:r>
          </a:p>
          <a:p>
            <a:pPr>
              <a:spcAft>
                <a:spcPts val="800"/>
              </a:spcAft>
              <a:defRPr sz="1800"/>
            </a:pPr>
            <a:r>
              <a:t>Reliability: Container restart policies and HealthCheck loops prevent cascading downtime across multi-store tenants.</a:t>
            </a:r>
          </a:p>
          <a:p>
            <a:pPr>
              <a:spcAft>
                <a:spcPts val="800"/>
              </a:spcAft>
              <a:defRPr sz="1800"/>
            </a:pPr>
            <a:r>
              <a:t>Cloud Benefits: Elastic storage on AWS S3, instant container portability, zero-downtime deployments, full audit traceability.</a:t>
            </a:r>
          </a:p>
          <a:p>
            <a:pPr>
              <a:spcAft>
                <a:spcPts val="800"/>
              </a:spcAft>
              <a:defRPr sz="1800"/>
            </a:pPr>
            <a:r>
              <a:t>Limitations: Single-region deployment in ap-south-1; multi-region cross-zone replication planned for global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13. 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Conclusion: Engineered an end-to-end resilient industry cloud application adhering to strict SLA/TTR benchmarks, utilizing AWS S3, Docker, and multi-tier virtualization.</a:t>
            </a:r>
          </a:p>
          <a:p>
            <a:pPr>
              <a:spcAft>
                <a:spcPts val="800"/>
              </a:spcAft>
              <a:defRPr sz="1800"/>
            </a:pPr>
            <a:r>
              <a:t>Future Work: Migrate to Kubernetes (Amazon EKS) for auto-scaling pods, introduce Terraform IaC, and configure AWS WAF for Layer-7 DDoS protection.</a:t>
            </a:r>
          </a:p>
          <a:p>
            <a:pPr>
              <a:spcAft>
                <a:spcPts val="800"/>
              </a:spcAft>
              <a:defRPr sz="1800"/>
            </a:pPr>
            <a:r>
              <a:t>Business Extension: Production deployment for 500+ Indian MSME retail stores with WhatsApp Business API stock alert notifications.</a:t>
            </a:r>
          </a:p>
          <a:p>
            <a:pPr>
              <a:spcAft>
                <a:spcPts val="800"/>
              </a:spcAft>
              <a:defRPr sz="1800"/>
            </a:pPr>
            <a:r>
              <a:t>Learning Outcomes: Mastered AWS IAM security, S3 cloud storage integration, multi-stage Docker optimization, SLA/TTR measurement, and automated recovery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14. Evaluation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☑ Clear industry use case: Multi-tenant MSME retail inventory pipeline across 5 business verticals</a:t>
            </a:r>
          </a:p>
          <a:p>
            <a:pPr>
              <a:spcAft>
                <a:spcPts val="800"/>
              </a:spcAft>
              <a:defRPr sz="1600"/>
            </a:pPr>
            <a:r>
              <a:t>☑ End-to-end cloud architecture: Client → Reverse Proxy → Docker Container → PostgreSQL + AWS S3</a:t>
            </a:r>
          </a:p>
          <a:p>
            <a:pPr>
              <a:spcAft>
                <a:spcPts val="800"/>
              </a:spcAft>
              <a:defRPr sz="1600"/>
            </a:pPr>
            <a:r>
              <a:t>☑ 5 AWS services leveraged: S3 (Storage), EC2 (Compute), RDS/Postgres (Database), CloudWatch (Telemetry), IAM (Security)</a:t>
            </a:r>
          </a:p>
          <a:p>
            <a:pPr>
              <a:spcAft>
                <a:spcPts val="800"/>
              </a:spcAft>
              <a:defRPr sz="1600"/>
            </a:pPr>
            <a:r>
              <a:t>☑ Dockerized: 3-stage Node 20 Alpine Dockerfile (168MB), non-root user, healthcheck, docker-compose.yml</a:t>
            </a:r>
          </a:p>
          <a:p>
            <a:pPr>
              <a:spcAft>
                <a:spcPts val="800"/>
              </a:spcAft>
              <a:defRPr sz="1600"/>
            </a:pPr>
            <a:r>
              <a:t>☑ Virtualization: AWS Nitro Hypervisor EC2 t3.micro VM + Docker container runtime process isolation</a:t>
            </a:r>
          </a:p>
          <a:p>
            <a:pPr>
              <a:spcAft>
                <a:spcPts val="800"/>
              </a:spcAft>
              <a:defRPr sz="1600"/>
            </a:pPr>
            <a:r>
              <a:t>☑ Explicit SLA: Availability = 99.9% (Observed 99.98%), Response Latency P95 &lt; 2000ms (Observed 42ms)</a:t>
            </a:r>
          </a:p>
          <a:p>
            <a:pPr>
              <a:spcAft>
                <a:spcPts val="800"/>
              </a:spcAft>
              <a:defRPr sz="1600"/>
            </a:pPr>
            <a:r>
              <a:t>☑ TTR measured: Target &lt; 30s | Measured = 18.2s (Detection 3.2s + Diagnosis 4.1s + Recovery 8.5s + Verification 2.4s)</a:t>
            </a:r>
          </a:p>
          <a:p>
            <a:pPr>
              <a:spcAft>
                <a:spcPts val="800"/>
              </a:spcAft>
              <a:defRPr sz="1600"/>
            </a:pPr>
            <a:r>
              <a:t>☑ Failure recovery demonstrated live via /api/simulate-failure with real-time UI stage progression</a:t>
            </a:r>
          </a:p>
          <a:p>
            <a:pPr>
              <a:spcAft>
                <a:spcPts val="800"/>
              </a:spcAft>
              <a:defRPr sz="1600"/>
            </a:pPr>
            <a:r>
              <a:t>☑ Monitoring: /api/health and /api/metrics telemetry endpoints with 24-hr time-series history</a:t>
            </a:r>
          </a:p>
          <a:p>
            <a:pPr>
              <a:spcAft>
                <a:spcPts val="800"/>
              </a:spcAft>
              <a:defRPr sz="1600"/>
            </a:pPr>
            <a:r>
              <a:t>☑ Security &amp; Cost: Least-privilege IAM, AES-256 S3 encryption, ₹85/month estimated AWS Free Tier cost</a:t>
            </a:r>
          </a:p>
          <a:p>
            <a:pPr>
              <a:spcAft>
                <a:spcPts val="800"/>
              </a:spcAft>
              <a:defRPr sz="1600"/>
            </a:pPr>
            <a:r>
              <a:t>☑ Working demo: Live web application on localhost:3000 + comprehensive GitHub repository and viva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GramStock Cloud Demonstration &amp; Viva Questions</a:t>
            </a:r>
          </a:p>
          <a:p>
            <a:pPr algn="ctr">
              <a:defRPr sz="1800"/>
            </a:pPr>
            <a:r>
              <a:t>Live Dashboard: http://localhost:3000/sla | AWS ap-south-1 | S3 Bucket: gramstock-cloud-dataset-2026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Mini Project | Cloud Computing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