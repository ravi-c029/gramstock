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822960"/>
            <a:ext cx="3108960" cy="32004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06B6D4"/>
                </a:solidFill>
                <a:latin typeface="Segoe UI"/>
              </a:rPr>
              <a:t>CLOUD COMPUTING PROJECT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4937760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Segoe UI"/>
              </a:rPr>
              <a:t>One Inventory Platform.
Every Business.</a:t>
            </a:r>
          </a:p>
          <a:p>
            <a:pPr>
              <a:spcBef>
                <a:spcPts val="1400"/>
              </a:spcBef>
            </a:pPr>
            <a:r>
              <a:rPr sz="1350">
                <a:solidFill>
                  <a:srgbClr val="94A3B8"/>
                </a:solidFill>
                <a:latin typeface="Segoe UI"/>
              </a:rPr>
              <a:t>An adaptive, zero-schema SaaS platform that transforms arbitrary business datasets into dynamic, custom inventory interfaces and real-time dashboards.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566160"/>
            <a:ext cx="4754880" cy="731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3566160"/>
            <a:ext cx="91440" cy="73152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3657600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Segoe UI"/>
              </a:rPr>
              <a:t>Zero Fixed Schema</a:t>
            </a:r>
          </a:p>
          <a:p>
            <a:r>
              <a:rPr sz="1000">
                <a:solidFill>
                  <a:srgbClr val="94A3B8"/>
                </a:solidFill>
                <a:latin typeface="Segoe UI"/>
              </a:rPr>
              <a:t>No static table locks — ingests any CSV structure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407408"/>
            <a:ext cx="4754880" cy="731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4407408"/>
            <a:ext cx="91440" cy="73152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498848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Segoe UI"/>
              </a:rPr>
              <a:t>Multi-Tenant Cloud</a:t>
            </a:r>
          </a:p>
          <a:p>
            <a:r>
              <a:rPr sz="1000">
                <a:solidFill>
                  <a:srgbClr val="94A3B8"/>
                </a:solidFill>
                <a:latin typeface="Segoe UI"/>
              </a:rPr>
              <a:t>Strict row-level silo for Kirana, Pharma, Retail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248656"/>
            <a:ext cx="4754880" cy="73152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" y="5248656"/>
            <a:ext cx="91440" cy="73152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60120" y="5340096"/>
            <a:ext cx="4389120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200" b="1">
                <a:solidFill>
                  <a:srgbClr val="FFFFFF"/>
                </a:solidFill>
                <a:latin typeface="Segoe UI"/>
              </a:rPr>
              <a:t>AWS-Backed Telemetry</a:t>
            </a:r>
          </a:p>
          <a:p>
            <a:r>
              <a:rPr sz="1000">
                <a:solidFill>
                  <a:srgbClr val="94A3B8"/>
                </a:solidFill>
                <a:latin typeface="Segoe UI"/>
              </a:rPr>
              <a:t>S3 Storage, EC2 Compute, CloudWatch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6172200"/>
            <a:ext cx="4754880" cy="347472"/>
          </a:xfrm>
          <a:prstGeom prst="roundRect">
            <a:avLst/>
          </a:prstGeom>
          <a:solidFill>
            <a:srgbClr val="101C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✦ Memorable Takeaway: "Different businesses. One adaptive engine."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89520" y="2651760"/>
            <a:ext cx="2560320" cy="1645920"/>
          </a:xfrm>
          <a:prstGeom prst="roundRect">
            <a:avLst/>
          </a:prstGeom>
          <a:solidFill>
            <a:srgbClr val="182646"/>
          </a:solidFill>
          <a:ln w="2540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2834640"/>
            <a:ext cx="237744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200" b="1">
                <a:solidFill>
                  <a:srgbClr val="06B6D4"/>
                </a:solidFill>
                <a:latin typeface="Segoe UI"/>
              </a:rPr>
              <a:t>⚡ GRAMSTOCK ENGINE</a:t>
            </a:r>
          </a:p>
          <a:p>
            <a:pPr algn="ctr">
              <a:spcBef>
                <a:spcPts val="400"/>
              </a:spcBef>
            </a:pPr>
            <a:r>
              <a:rPr sz="950">
                <a:solidFill>
                  <a:srgbClr val="FFFFFF"/>
                </a:solidFill>
                <a:latin typeface="Segoe UI"/>
              </a:rPr>
              <a:t>Adaptive Schema Inference
Dynamic Field Mapping
Zero-Downtime Reconfiguration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852160" y="777240"/>
            <a:ext cx="2651760" cy="1600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88696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🛒 GUPTA KIRANA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Grocery &amp; FMCG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Aashirvaad Atta 10kg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Fortune Mustard Oil 1L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Selling Price • FMCG Barcodes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777240"/>
            <a:ext cx="2651760" cy="1600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88696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💊 APOLLO MEDICO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Pharmacy &amp; Clinical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Dolo 650mg Tablets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Augmentin 625 Duo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Batch No • Expiry Countdown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852160" y="4663440"/>
            <a:ext cx="2651760" cy="1600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477316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🍽️ BISTRO CAFE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Restaurant &amp; F&amp;B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Mozzarella Cheese (Kg)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Basmati Premium (Kg)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Recipe Yield • Shelf Life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61120" y="4663440"/>
            <a:ext cx="2651760" cy="160020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4773168"/>
            <a:ext cx="237744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Segoe UI"/>
              </a:rPr>
              <a:t>👗 URBAN THREADS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Fashion &amp; Apparel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Slim Denim Jeans (32)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Pure Linen Shirt (L)</a:t>
            </a:r>
          </a:p>
          <a:p>
            <a:pPr>
              <a:spcBef>
                <a:spcPts val="2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• Size Matrix • Color Variants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F43F5E"/>
                </a:solidFill>
                <a:latin typeface="Segoe UI"/>
              </a:rPr>
              <a:t>02 | THE CORE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Every Business Is Different. Inventory Software Often Isn't.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One rigid database template cannot naturally accommodate the fundamental structural diversity of real-world retail businesses.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920240"/>
            <a:ext cx="2514600" cy="20116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29968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GROCERY &amp; FMCG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Product Name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Package Weight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Selling Price (MRP)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FMCG Barcode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Fast-Moving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920240"/>
            <a:ext cx="2514600" cy="20116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11880" y="2029968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PHARMACY &amp; DRUGS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Medicine Brand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Salt Formulation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Batch Number (Batch ID)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Expiry Date (Critical)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Schedule H Prescription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920240"/>
            <a:ext cx="2514600" cy="20116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2029968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RESTAURANT &amp; CAFE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Ingredient Name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Unit of Measure (Kg/L)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Storage Temp (°C)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Recipe Consumption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Reorder Threshold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1920240"/>
            <a:ext cx="2514600" cy="201168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98280" y="2029968"/>
            <a:ext cx="224028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Segoe UI"/>
              </a:rPr>
              <a:t>GARMENTS &amp; APPAREL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Style / Article Code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Size Matrix (S/M/L/XL)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Color Variant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Fabric Blend</a:t>
            </a:r>
          </a:p>
          <a:p>
            <a:pPr>
              <a:spcBef>
                <a:spcPts val="3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◽ Seasonal Collection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114800"/>
            <a:ext cx="10725912" cy="777240"/>
          </a:xfrm>
          <a:prstGeom prst="roundRect">
            <a:avLst/>
          </a:prstGeom>
          <a:solidFill>
            <a:srgbClr val="1E121A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10332720" cy="685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50" b="1">
                <a:solidFill>
                  <a:srgbClr val="F43F5E"/>
                </a:solidFill>
                <a:latin typeface="Segoe UI"/>
              </a:rPr>
              <a:t>⚠️ THE RIGID TEMPLATE MISMATCH: Attempting to force these 4 schemas into 1 fixed SQL table</a:t>
            </a:r>
          </a:p>
          <a:p>
            <a:pPr>
              <a:spcBef>
                <a:spcPts val="300"/>
              </a:spcBef>
            </a:pPr>
            <a:r>
              <a:rPr sz="1000">
                <a:solidFill>
                  <a:srgbClr val="FFFFFF"/>
                </a:solidFill>
                <a:latin typeface="Segoe UI"/>
              </a:rPr>
              <a:t>❌ Pharmacy expiry alerts fail in clothing stores  •  ❌ 60% of database columns become NULL  •  ❌ Custom fields require developer schema migrations &amp; server downtime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5029200"/>
            <a:ext cx="3429000" cy="54864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16636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1. Rigid Relational Schemas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Traditional ERPs demand a pre-defined relational blueprint before data entry. Small merchants cannot modify schemas without technical consultants.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9976" y="502920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79976" y="502920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2856" y="516636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2. Expensive Manual Restructuring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Businesses are forced to reshape their historical Excel records into foreign formats, causing data corruption, missing attributes, and adoption failure.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28432" y="502920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28432" y="5029200"/>
            <a:ext cx="3429000" cy="54864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11312" y="5166360"/>
            <a:ext cx="306324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FFFFF"/>
                </a:solidFill>
                <a:latin typeface="Segoe UI"/>
              </a:rPr>
              <a:t>3. Non-Adaptive Dashboards</a:t>
            </a:r>
          </a:p>
          <a:p>
            <a:pPr>
              <a:spcBef>
                <a:spcPts val="400"/>
              </a:spcBef>
            </a:pPr>
            <a:r>
              <a:rPr sz="950">
                <a:solidFill>
                  <a:srgbClr val="94A3B8"/>
                </a:solidFill>
                <a:latin typeface="Segoe UI"/>
              </a:rPr>
              <a:t>Fixed UI displays irrelevant metrics — e.g., expiry dates for denim or size breakdowns for cooking oil — creating cognitive overload.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03 | THE ADAPTIVE SOLUTION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Upload Data. Shape the System. Get Your Dashboard.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GramStock Cloud introduces a 5-stage transformation pipeline where raw datasets programmatically generate the operational UI.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011680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65960"/>
            <a:ext cx="179222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2563EB"/>
                </a:solidFill>
                <a:latin typeface="Segoe UI"/>
              </a:rPr>
              <a:t>STAGE 1</a:t>
            </a:r>
          </a:p>
          <a:p>
            <a:r>
              <a:rPr sz="1100" b="1">
                <a:solidFill>
                  <a:srgbClr val="FFFFFF"/>
                </a:solidFill>
                <a:latin typeface="Segoe UI"/>
              </a:rPr>
              <a:t>UPLOAD DATA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Raw CSV/XLSX file enters system via web drag-and-drop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907792" y="1874519"/>
            <a:ext cx="2011680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017520" y="1965960"/>
            <a:ext cx="179222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06B6D4"/>
                </a:solidFill>
                <a:latin typeface="Segoe UI"/>
              </a:rPr>
              <a:t>STAGE 2</a:t>
            </a:r>
          </a:p>
          <a:p>
            <a:r>
              <a:rPr sz="1100" b="1">
                <a:solidFill>
                  <a:srgbClr val="FFFFFF"/>
                </a:solidFill>
                <a:latin typeface="Segoe UI"/>
              </a:rPr>
              <a:t>ANALYZE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Heuristic parser inspects headers, types &amp; distributions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84064" y="1874519"/>
            <a:ext cx="2011680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93792" y="1965960"/>
            <a:ext cx="179222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A855F7"/>
                </a:solidFill>
                <a:latin typeface="Segoe UI"/>
              </a:rPr>
              <a:t>STAGE 3</a:t>
            </a:r>
          </a:p>
          <a:p>
            <a:r>
              <a:rPr sz="1100" b="1">
                <a:solidFill>
                  <a:srgbClr val="FFFFFF"/>
                </a:solidFill>
                <a:latin typeface="Segoe UI"/>
              </a:rPr>
              <a:t>CUSTOMIZE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Merchant verifies category, field mappings &amp; alert rules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0336" y="1874519"/>
            <a:ext cx="2011680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70064" y="1965960"/>
            <a:ext cx="179222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10B981"/>
                </a:solidFill>
                <a:latin typeface="Segoe UI"/>
              </a:rPr>
              <a:t>STAGE 4</a:t>
            </a:r>
          </a:p>
          <a:p>
            <a:r>
              <a:rPr sz="1100" b="1">
                <a:solidFill>
                  <a:srgbClr val="FFFFFF"/>
                </a:solidFill>
                <a:latin typeface="Segoe UI"/>
              </a:rPr>
              <a:t>GENERATE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Dynamic table schemas, KPI cards &amp; filters instantiate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436608" y="1874519"/>
            <a:ext cx="2011680" cy="137160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546336" y="1965960"/>
            <a:ext cx="1792224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00" b="1">
                <a:solidFill>
                  <a:srgbClr val="F59E0B"/>
                </a:solidFill>
                <a:latin typeface="Segoe UI"/>
              </a:rPr>
              <a:t>STAGE 5</a:t>
            </a:r>
          </a:p>
          <a:p>
            <a:r>
              <a:rPr sz="1100" b="1">
                <a:solidFill>
                  <a:srgbClr val="FFFFFF"/>
                </a:solidFill>
                <a:latin typeface="Segoe UI"/>
              </a:rPr>
              <a:t>INSIGHT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Live responsive dashboard backed by isolated PostgreSQL silo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429000"/>
            <a:ext cx="3291840" cy="237744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520440"/>
            <a:ext cx="301752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📄 1. Raw Business Dataset (CSV)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Consolas"/>
              </a:rPr>
              <a:t>Item,Qty,Rate,BestBefore,BatchID
Parle-G Gold,120,10,2026-12-01,BAT-01
Dolo 650mg,85,32,2027-05-15,DL-881
Linen Shirt L,40,899,N/A,SKU-402
Olive Oil 1L,25,650,2026-09-30,OLV-09</a:t>
            </a:r>
          </a:p>
          <a:p>
            <a:pPr>
              <a:spcBef>
                <a:spcPts val="600"/>
              </a:spcBef>
            </a:pPr>
            <a:r>
              <a:rPr sz="850">
                <a:solidFill>
                  <a:srgbClr val="64748B"/>
                </a:solidFill>
                <a:latin typeface="Segoe UI"/>
              </a:rPr>
              <a:t>• Heterogeneous field types &amp; formats
• Missing headers or optional date fields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3429000"/>
            <a:ext cx="3474720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34840" y="3520440"/>
            <a:ext cx="320040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Segoe UI"/>
              </a:rPr>
              <a:t>⚡ 2. Adaptive Schema Mapping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Detected Category: </a:t>
            </a:r>
            <a:r>
              <a:rPr sz="850">
                <a:solidFill>
                  <a:srgbClr val="06B6D4"/>
                </a:solidFill>
              </a:rPr>
              <a:t>Medical / Pharma (94% Match)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Item ➔ </a:t>
            </a:r>
            <a:r>
              <a:rPr sz="850">
                <a:solidFill>
                  <a:srgbClr val="06B6D4"/>
                </a:solidFill>
              </a:rPr>
              <a:t>Product Name (String, Primary)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Qty ➔ </a:t>
            </a:r>
            <a:r>
              <a:rPr sz="850">
                <a:solidFill>
                  <a:srgbClr val="06B6D4"/>
                </a:solidFill>
              </a:rPr>
              <a:t>Stock Level (Integer, Tracked)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Rate ➔ </a:t>
            </a:r>
            <a:r>
              <a:rPr sz="850">
                <a:solidFill>
                  <a:srgbClr val="06B6D4"/>
                </a:solidFill>
              </a:rPr>
              <a:t>Unit Price (INR Currency)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BestBefore ➔ </a:t>
            </a:r>
            <a:r>
              <a:rPr sz="850">
                <a:solidFill>
                  <a:srgbClr val="06B6D4"/>
                </a:solidFill>
              </a:rPr>
              <a:t>Expiration Date (ISO-8601)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BatchID ➔ </a:t>
            </a:r>
            <a:r>
              <a:rPr sz="850">
                <a:solidFill>
                  <a:srgbClr val="06B6D4"/>
                </a:solidFill>
              </a:rPr>
              <a:t>Batch Tracking Code (Indexed)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46720" y="3429000"/>
            <a:ext cx="341071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3879" y="3520440"/>
            <a:ext cx="310896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📊 3. Generated Tailored Experience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Dynamic KPIs: </a:t>
            </a:r>
            <a:r>
              <a:rPr sz="850">
                <a:solidFill>
                  <a:srgbClr val="94A3B8"/>
                </a:solidFill>
              </a:rPr>
              <a:t>Total Stock Value, Batch Health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Contextual Alerts: </a:t>
            </a:r>
            <a:r>
              <a:rPr sz="850">
                <a:solidFill>
                  <a:srgbClr val="94A3B8"/>
                </a:solidFill>
              </a:rPr>
              <a:t>Auto-calculates expiry countdown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Adaptive Table: </a:t>
            </a:r>
            <a:r>
              <a:rPr sz="850">
                <a:solidFill>
                  <a:srgbClr val="94A3B8"/>
                </a:solidFill>
              </a:rPr>
              <a:t>Renders exact mapped columns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Theme Adaptation: </a:t>
            </a:r>
            <a:r>
              <a:rPr sz="850">
                <a:solidFill>
                  <a:srgbClr val="94A3B8"/>
                </a:solidFill>
              </a:rPr>
              <a:t>Teal clinical palette applied</a:t>
            </a:r>
          </a:p>
          <a:p>
            <a:pPr>
              <a:spcBef>
                <a:spcPts val="200"/>
              </a:spcBef>
            </a:pPr>
            <a:r>
              <a:rPr b="1" sz="850">
                <a:solidFill>
                  <a:srgbClr val="FFFFFF"/>
                </a:solidFill>
              </a:rPr>
              <a:t>Isolated Silo: </a:t>
            </a:r>
            <a:r>
              <a:rPr sz="850">
                <a:solidFill>
                  <a:srgbClr val="94A3B8"/>
                </a:solidFill>
              </a:rPr>
              <a:t>Restricted to pharmacy tenant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989320"/>
            <a:ext cx="10725912" cy="502920"/>
          </a:xfrm>
          <a:prstGeom prst="roundRect">
            <a:avLst/>
          </a:prstGeom>
          <a:solidFill>
            <a:srgbClr val="142036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6035040"/>
            <a:ext cx="10332720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Segoe UI"/>
              </a:rPr>
              <a:t>💡 Core Architectural Principle: "Suggestions are automatic via heuristic pattern analysis. Final configuration stays strictly with the merchant."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2563EB"/>
                </a:solidFill>
                <a:latin typeface="Segoe UI"/>
              </a:rPr>
              <a:t>04 | CLOUD COMPUTING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From Uploaded File to Cloud-Powered Dashboard.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Engineered with clean separation of concerns: Object Storage for files, Virtual Compute for logic, and CloudWatch for observability.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2468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993392"/>
            <a:ext cx="22677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1. CLIENT LAYER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Browser &amp; PWA Clients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Web Browser / Mobile PWA
  Next.js React Client App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HTTPS / TLS 1.3 Encryption
  Encrypted session tokens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State Management
  Client business context &amp; theme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74519"/>
            <a:ext cx="2542032" cy="2468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93592" y="1993392"/>
            <a:ext cx="22677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Segoe UI"/>
              </a:rPr>
              <a:t>2. COMPUTE LAYER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Amazon EC2 (t3.micro)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Next.js Full-Stack Engine
  Node.js 20 Alpine container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Schema Inference Engine
  Dynamic CSV parsing &amp; typing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REST API &amp; Auth Guards
  Bcrypt password hashing (10 rds)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874519"/>
            <a:ext cx="2542032" cy="2468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8504" y="1993392"/>
            <a:ext cx="22677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3. STORAGE &amp; DATA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S3 Storage + PostgreSQL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Amazon S3 Bucket
  Raw CSV dataset backups (AES-256)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PostgreSQL Database
  Multi-tenant inventory records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Row-Level Isolation
  Strict merchant data separation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874519"/>
            <a:ext cx="2542032" cy="24688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43416" y="1993392"/>
            <a:ext cx="2267712" cy="2240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4. OBSERVABILITY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Amazon CloudWatch &amp; Audit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CloudWatch Telemetry
  Latency, uptime &amp; SLA metrics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CloudTrail Audit Ledger
  KMS-signed security log stream</a:t>
            </a:r>
          </a:p>
          <a:p>
            <a:pPr>
              <a:spcBef>
                <a:spcPts val="5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▸ Super Admin Governance
  Cross-tenant health monitoring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52628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1520" y="4526280"/>
            <a:ext cx="3429000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4663440"/>
            <a:ext cx="309981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AMAZON S3  —  STORE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Cloud Object Storage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Stores uploaded raw CSV/XLSX files, generated export snapshots, and system backups. Files are encrypted at rest with server-side AES-256 KMS encryption.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79976" y="452628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79976" y="4526280"/>
            <a:ext cx="3429000" cy="54864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44568" y="4663440"/>
            <a:ext cx="309981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2563EB"/>
                </a:solidFill>
                <a:latin typeface="Segoe UI"/>
              </a:rPr>
              <a:t>AMAZON EC2  —  RUN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Virtual Compute Hosting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Runs the containerized Docker application (Node.js 20 Alpine). Handles ingestion pipelines, category heuristic analysis, and business rule generation.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28432" y="4526280"/>
            <a:ext cx="3429000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28432" y="4526280"/>
            <a:ext cx="342900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93024" y="4663440"/>
            <a:ext cx="3099816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F59E0B"/>
                </a:solidFill>
                <a:latin typeface="Segoe UI"/>
              </a:rPr>
              <a:t>AMAZON CLOUDWATCH  —  OBSERVE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Telemetry &amp; Monitoring</a:t>
            </a:r>
          </a:p>
          <a:p>
            <a:pPr>
              <a:spcBef>
                <a:spcPts val="400"/>
              </a:spcBef>
            </a:pPr>
            <a:r>
              <a:rPr sz="850">
                <a:solidFill>
                  <a:srgbClr val="94A3B8"/>
                </a:solidFill>
                <a:latin typeface="Segoe UI"/>
              </a:rPr>
              <a:t>Aggregates application logs, tracks API response latencies (P95: 42ms), records SOC-2 audit trails, and monitors 99.98% target availability SLAs.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6035040"/>
            <a:ext cx="10725912" cy="457200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374B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6080760"/>
            <a:ext cx="103327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🟢 Implemented &amp; Verified: Docker Container, S3 Storage Adapter, PostgreSQL Store, Health Telemetry API  |  🔵 Target Cloud Blueprint: AWS EC2 (t3.micro), Amazon RDS, AWS CloudWatch RUM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06B6D4"/>
                </a:solidFill>
                <a:latin typeface="Segoe UI"/>
              </a:rPr>
              <a:t>05 | TECHNOLOGY STACK &amp; JUSTIFICATION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Every Technology Has a Job.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Selected to guarantee configuration-driven adaptability, strong relational integrity, and isolated cloud operations.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874519"/>
            <a:ext cx="73152" cy="62179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9383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06B6D4"/>
                </a:solidFill>
                <a:latin typeface="Segoe UI"/>
              </a:rPr>
              <a:t>LAYER 1 — EXPERIENCE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Next.js 16 + React 19 + TypeScript + Tailwind CSS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Server-side rendering (SSR), instant page hydration, strictly typed schema definitions, and dynamic theme switching with zero layout shift.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569463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2569463"/>
            <a:ext cx="73152" cy="62179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624327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2563EB"/>
                </a:solidFill>
                <a:latin typeface="Segoe UI"/>
              </a:rPr>
              <a:t>LAYER 2 — APPLICATION LOGIC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Next.js API Server Routes + Bcrypt + S3 SDK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High-throughput CSV chunking, automated heuristic column inference, bcrypt password hashing (10 salt rounds), and S3 presigned operations.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3264407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3264407"/>
            <a:ext cx="73152" cy="6217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319271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10B981"/>
                </a:solidFill>
                <a:latin typeface="Segoe UI"/>
              </a:rPr>
              <a:t>LAYER 3 — DATA PERSISTENCE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PostgreSQL + Multi-Tenant Row Isolation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Structured ACID storage for business profiles, schema configs, and transaction ledger. JSONB attributes accommodate domain-specific columns.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959351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3959351"/>
            <a:ext cx="73152" cy="62179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4014215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59E0B"/>
                </a:solidFill>
                <a:latin typeface="Segoe UI"/>
              </a:rPr>
              <a:t>LAYER 4 — CLOUD INFRASTRUCTURE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Amazon EC2 (Compute) + Amazon S3 (Object Storage)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Decouples bulk file ingestion from application compute, ensuring raw uploads never degrade transactional database performance.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654295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1520" y="4654295"/>
            <a:ext cx="73152" cy="621792"/>
          </a:xfrm>
          <a:prstGeom prst="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709159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F43F5E"/>
                </a:solidFill>
                <a:latin typeface="Segoe UI"/>
              </a:rPr>
              <a:t>LAYER 5 — OBSERVABILITY &amp; AUDIT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AWS CloudTrail Ledger + CloudWatch RUM Simulation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Cryptographically verifiable audit log tracking every restock and schema edit. Multi-tenant isolation prevents cross-tenant data leaks.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349239"/>
            <a:ext cx="6858000" cy="621792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1520" y="5349239"/>
            <a:ext cx="73152" cy="621792"/>
          </a:xfrm>
          <a:prstGeom prst="rect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404103"/>
            <a:ext cx="6583680" cy="51206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850" b="1">
                <a:solidFill>
                  <a:srgbClr val="A855F7"/>
                </a:solidFill>
                <a:latin typeface="Segoe UI"/>
              </a:rPr>
              <a:t>LAYER 6 — PACKAGING &amp; DELIVERY  •  </a:t>
            </a:r>
            <a:r>
              <a:rPr sz="1000" b="1">
                <a:solidFill>
                  <a:srgbClr val="FFFFFF"/>
                </a:solidFill>
                <a:latin typeface="Segoe UI"/>
              </a:rPr>
              <a:t>Docker (Multi-Stage Node 20 Alpine)</a:t>
            </a:r>
          </a:p>
          <a:p>
            <a:r>
              <a:rPr sz="850">
                <a:solidFill>
                  <a:srgbClr val="94A3B8"/>
                </a:solidFill>
                <a:latin typeface="Segoe UI"/>
              </a:rPr>
              <a:t>Guarantees reproducible container execution across development and AWS production environments with minimal 140MB image footprint.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818120" y="1874519"/>
            <a:ext cx="3639312" cy="12801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982712" y="1984247"/>
            <a:ext cx="33101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6B6D4"/>
                </a:solidFill>
                <a:latin typeface="Segoe UI"/>
              </a:rPr>
              <a:t>1. Configuration-Driven Architecture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Rather than generating hardcoded database tables per merchant, a single unified engine reads runtime schema definitions and dynamically projects corresponding tables and forms.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264407"/>
            <a:ext cx="3639312" cy="12801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982712" y="3374135"/>
            <a:ext cx="33101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2. Strict Relational Integrity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Inventory stock adjustments and ledger audit logs require absolute ACID consistency. PostgreSQL guarantees transactional consistency, preventing ghost stock or unrecorded sales.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818120" y="4654295"/>
            <a:ext cx="3639312" cy="1280160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82712" y="4764023"/>
            <a:ext cx="3310128" cy="1051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Segoe UI"/>
              </a:rPr>
              <a:t>3. Clean Separation of Cloud Concerns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Large CSV uploads are sent directly to Amazon S3, compute logic runs on EC2, and health telemetry streams to CloudWatch — preventing single points of failure.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31520" y="6080760"/>
            <a:ext cx="10725912" cy="411480"/>
          </a:xfrm>
          <a:prstGeom prst="roundRect">
            <a:avLst/>
          </a:prstGeom>
          <a:solidFill>
            <a:srgbClr val="101A2E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108192"/>
            <a:ext cx="103327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Segoe UI"/>
              </a:rPr>
              <a:t>🔒 Security Principle: Zero hardcoded secrets in version control; environment variables strictly injected via process.env with Docker isolation.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10B981"/>
                </a:solidFill>
                <a:latin typeface="Segoe UI"/>
              </a:rPr>
              <a:t>06 | DEMONSTRATED CAPABILITIES &amp;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One Engine. Multiple Inventory Experiences.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Real demonstration evidence verified across 4 distinct industry store silos with live cloud telemetry.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254203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8" y="1984247"/>
            <a:ext cx="23225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GUPTA SUPER KIRANA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Grocery &amp; Daily Needs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Aashirvaad Shudh Chakki Atta 10kg
  </a:t>
            </a:r>
            <a:r>
              <a:rPr sz="750">
                <a:solidFill>
                  <a:srgbClr val="94A3B8"/>
                </a:solidFill>
                <a:latin typeface="Segoe UI"/>
              </a:rPr>
              <a:t>120 Bags  |  ₹440  |  Low Stock Alert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Fortune Kachi Ghani Mustard Oil 1L
  </a:t>
            </a:r>
            <a:r>
              <a:rPr sz="750">
                <a:solidFill>
                  <a:srgbClr val="94A3B8"/>
                </a:solidFill>
                <a:latin typeface="Segoe UI"/>
              </a:rPr>
              <a:t>85 Bottles  |  ₹145  |  Optimal Stock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Parle-G Gold Biscuits 250g
  </a:t>
            </a:r>
            <a:r>
              <a:rPr sz="750">
                <a:solidFill>
                  <a:srgbClr val="94A3B8"/>
                </a:solidFill>
                <a:latin typeface="Segoe UI"/>
              </a:rPr>
              <a:t>250 Packs  |  ₹25  |  Fast Moving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874519"/>
            <a:ext cx="254203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566160" y="1984247"/>
            <a:ext cx="23225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6B6D4"/>
                </a:solidFill>
                <a:latin typeface="Segoe UI"/>
              </a:rPr>
              <a:t>APOLLO MEDICO PHARMACY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Pharmaceuticals &amp; Clinical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Dolo 650mg Paracetamol Tablets
  </a:t>
            </a:r>
            <a:r>
              <a:rPr sz="750">
                <a:solidFill>
                  <a:srgbClr val="94A3B8"/>
                </a:solidFill>
                <a:latin typeface="Segoe UI"/>
              </a:rPr>
              <a:t>500 Strips  |  Batch DL-8811  |  Exp: 2027-05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Augmentin 625 Duo Antibiotic
  </a:t>
            </a:r>
            <a:r>
              <a:rPr sz="750">
                <a:solidFill>
                  <a:srgbClr val="94A3B8"/>
                </a:solidFill>
                <a:latin typeface="Segoe UI"/>
              </a:rPr>
              <a:t>80 Packs  |  Batch AG-4420  |  Exp: 2026-11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Betadine 10% Ointment 20g
  </a:t>
            </a:r>
            <a:r>
              <a:rPr sz="750">
                <a:solidFill>
                  <a:srgbClr val="94A3B8"/>
                </a:solidFill>
                <a:latin typeface="Segoe UI"/>
              </a:rPr>
              <a:t>45 Tubes  |  Batch BT-1002  |  Exp: 2028-01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81344" y="1874519"/>
            <a:ext cx="254203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91072" y="1984247"/>
            <a:ext cx="23225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Segoe UI"/>
              </a:rPr>
              <a:t>MARCO BISTRO &amp; CAFE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Restaurant &amp; Hospitality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Fresh Mozzarella Cheese
  </a:t>
            </a:r>
            <a:r>
              <a:rPr sz="750">
                <a:solidFill>
                  <a:srgbClr val="94A3B8"/>
                </a:solidFill>
                <a:latin typeface="Segoe UI"/>
              </a:rPr>
              <a:t>18.5 Kg  |  Cold (4°C)  |  Reorder Triggered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Daawat Extra Long Basmati Rice
  </a:t>
            </a:r>
            <a:r>
              <a:rPr sz="750">
                <a:solidFill>
                  <a:srgbClr val="94A3B8"/>
                </a:solidFill>
                <a:latin typeface="Segoe UI"/>
              </a:rPr>
              <a:t>65.0 Kg  |  Dry Storage  |  Sufficient Stock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Extra Virgin Olive Oil 5L
  </a:t>
            </a:r>
            <a:r>
              <a:rPr sz="750">
                <a:solidFill>
                  <a:srgbClr val="94A3B8"/>
                </a:solidFill>
                <a:latin typeface="Segoe UI"/>
              </a:rPr>
              <a:t>6 Cans  |  Pantry  |  Optimal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06256" y="1874519"/>
            <a:ext cx="2542032" cy="237744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15984" y="1984247"/>
            <a:ext cx="2322576" cy="2148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A855F7"/>
                </a:solidFill>
                <a:latin typeface="Segoe UI"/>
              </a:rPr>
              <a:t>URBAN THREADS APPAREL</a:t>
            </a:r>
          </a:p>
          <a:p>
            <a:r>
              <a:rPr sz="850">
                <a:solidFill>
                  <a:srgbClr val="64748B"/>
                </a:solidFill>
                <a:latin typeface="Segoe UI"/>
              </a:rPr>
              <a:t>Fashion &amp; Garments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Slim-Fit Raw Denim Jeans (Size 32)
  </a:t>
            </a:r>
            <a:r>
              <a:rPr sz="750">
                <a:solidFill>
                  <a:srgbClr val="94A3B8"/>
                </a:solidFill>
                <a:latin typeface="Segoe UI"/>
              </a:rPr>
              <a:t>35 Pcs  |  Indigo Blue  |  SKU-DNM-32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Pure Linen Casual Shirt (Size L)
  </a:t>
            </a:r>
            <a:r>
              <a:rPr sz="750">
                <a:solidFill>
                  <a:srgbClr val="94A3B8"/>
                </a:solidFill>
                <a:latin typeface="Segoe UI"/>
              </a:rPr>
              <a:t>24 Pcs  |  White Solid  |  SKU-LIN-04</a:t>
            </a:r>
          </a:p>
          <a:p>
            <a:pPr>
              <a:spcBef>
                <a:spcPts val="4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• Crew Neck Cotton T-Shirt (Size M)
  </a:t>
            </a:r>
            <a:r>
              <a:rPr sz="750">
                <a:solidFill>
                  <a:srgbClr val="94A3B8"/>
                </a:solidFill>
                <a:latin typeface="Segoe UI"/>
              </a:rPr>
              <a:t>60 Pcs  |  Olive Green  |  SKU-TSH-08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2542032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10B981"/>
                </a:solidFill>
                <a:latin typeface="Segoe UI"/>
              </a:rPr>
              <a:t>✦ ADAPTABILITY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Instantly projects dynamic UI components from arbitrary CSV structures without database schema rewrites.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56432" y="4389120"/>
            <a:ext cx="2542032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93592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06B6D4"/>
                </a:solidFill>
                <a:latin typeface="Segoe UI"/>
              </a:rPr>
              <a:t>✦ VISIBILITY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Delivers context-aware inventory metrics (e.g. expiry countdown for medicines, size matrix for clothing).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1344" y="4389120"/>
            <a:ext cx="2542032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18504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F59E0B"/>
                </a:solidFill>
                <a:latin typeface="Segoe UI"/>
              </a:rPr>
              <a:t>✦ ACCESSIBILITY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Responsive desktop and mobile web PWA architecture allowing shopkeepers to inspect inventory on any phone.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06256" y="4389120"/>
            <a:ext cx="2542032" cy="1371600"/>
          </a:xfrm>
          <a:prstGeom prst="roundRect">
            <a:avLst/>
          </a:prstGeom>
          <a:solidFill>
            <a:srgbClr val="131B2E"/>
          </a:solidFill>
          <a:ln w="12700">
            <a:solidFill>
              <a:srgbClr val="26344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3416" y="4480560"/>
            <a:ext cx="2267712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050" b="1">
                <a:solidFill>
                  <a:srgbClr val="A855F7"/>
                </a:solidFill>
                <a:latin typeface="Segoe UI"/>
              </a:rPr>
              <a:t>✦ OBSERVABILITY</a:t>
            </a:r>
          </a:p>
          <a:p>
            <a:pPr>
              <a:spcBef>
                <a:spcPts val="400"/>
              </a:spcBef>
            </a:pPr>
            <a:r>
              <a:rPr sz="900">
                <a:solidFill>
                  <a:srgbClr val="94A3B8"/>
                </a:solidFill>
                <a:latin typeface="Segoe UI"/>
              </a:rPr>
              <a:t>Integrated CloudTrail audit trail, SOC-2 compliant tenant isolation, and live AWS availability health checks.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5897880"/>
            <a:ext cx="10725912" cy="594360"/>
          </a:xfrm>
          <a:prstGeom prst="roundRect">
            <a:avLst/>
          </a:prstGeom>
          <a:solidFill>
            <a:srgbClr val="121E34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5943600"/>
            <a:ext cx="1033272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950" b="1">
                <a:solidFill>
                  <a:srgbClr val="06B6D4"/>
                </a:solidFill>
                <a:latin typeface="Segoe UI"/>
              </a:rPr>
              <a:t>✅ LIVE DEMONSTRATION VERIFIED IN EXAMINATION:</a:t>
            </a:r>
          </a:p>
          <a:p>
            <a:r>
              <a:rPr sz="900">
                <a:solidFill>
                  <a:srgbClr val="FFFFFF"/>
                </a:solidFill>
                <a:latin typeface="Segoe UI"/>
              </a:rPr>
              <a:t>1. Real-time CSV Dataset Ingestion  •  2. Interactive Schema Confirmation  •  3. 1-Click Multi-Store Role Switching  •  4. Super Admin CloudWatch / CloudTrail Monitor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457200"/>
            <a:ext cx="2926080" cy="292608"/>
          </a:xfrm>
          <a:prstGeom prst="roundRect">
            <a:avLst/>
          </a:prstGeom>
          <a:solidFill>
            <a:srgbClr val="131B2E"/>
          </a:solidFill>
          <a:ln w="1524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tIns="0" rIns="0" bIns="0"/>
          <a:lstStyle/>
          <a:p>
            <a:pPr algn="ctr"/>
            <a:r>
              <a:rPr sz="950" b="1">
                <a:solidFill>
                  <a:srgbClr val="A855F7"/>
                </a:solidFill>
                <a:latin typeface="Segoe UI"/>
              </a:rPr>
              <a:t>07 | ROADMAP &amp;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804672"/>
            <a:ext cx="10698480" cy="868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2400" b="1">
                <a:solidFill>
                  <a:srgbClr val="FFFFFF"/>
                </a:solidFill>
                <a:latin typeface="Segoe UI"/>
              </a:rPr>
              <a:t>Built to Adapt. Designed to Scale.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94A3B8"/>
                </a:solidFill>
                <a:latin typeface="Segoe UI"/>
              </a:rPr>
              <a:t>A clear evolution roadmap advancing from our functional MVP into intelligent forecasting and multi-region enterprise distribution.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74519"/>
            <a:ext cx="342900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93392"/>
            <a:ext cx="306324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10B981"/>
                </a:solidFill>
                <a:latin typeface="Segoe UI"/>
              </a:rPr>
              <a:t>PHASE 1 — FOUNDATION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Current Implemented MVP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Adaptive Ingestion Engine — </a:t>
            </a:r>
            <a:r>
              <a:rPr sz="850">
                <a:solidFill>
                  <a:srgbClr val="94A3B8"/>
                </a:solidFill>
                <a:latin typeface="Segoe UI"/>
              </a:rPr>
              <a:t>CSV/XLSX drag-and-drop parsing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Heuristic Schema Detection — </a:t>
            </a:r>
            <a:r>
              <a:rPr sz="850">
                <a:solidFill>
                  <a:srgbClr val="94A3B8"/>
                </a:solidFill>
                <a:latin typeface="Segoe UI"/>
              </a:rPr>
              <a:t>Infers data types &amp; business category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Multi-Tenant Store Silo — </a:t>
            </a:r>
            <a:r>
              <a:rPr sz="850">
                <a:solidFill>
                  <a:srgbClr val="94A3B8"/>
                </a:solidFill>
                <a:latin typeface="Segoe UI"/>
              </a:rPr>
              <a:t>4 distinct live industry environments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AWS S3 &amp; Bcrypt Auth — </a:t>
            </a:r>
            <a:r>
              <a:rPr sz="850">
                <a:solidFill>
                  <a:srgbClr val="94A3B8"/>
                </a:solidFill>
                <a:latin typeface="Segoe UI"/>
              </a:rPr>
              <a:t>Presigned uploads &amp; 10-round salted auth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Super Admin Audit Monitor — </a:t>
            </a:r>
            <a:r>
              <a:rPr sz="850">
                <a:solidFill>
                  <a:srgbClr val="94A3B8"/>
                </a:solidFill>
                <a:latin typeface="Segoe UI"/>
              </a:rPr>
              <a:t>CloudTrail &amp; RUM telemetry logging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874519"/>
            <a:ext cx="342900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53712" y="1993392"/>
            <a:ext cx="306324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06B6D4"/>
                </a:solidFill>
                <a:latin typeface="Segoe UI"/>
              </a:rPr>
              <a:t>PHASE 2 — INTELLIGENCE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Next Phase Enhancements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Machine Learning Classifier — </a:t>
            </a:r>
            <a:r>
              <a:rPr sz="850">
                <a:solidFill>
                  <a:srgbClr val="94A3B8"/>
                </a:solidFill>
                <a:latin typeface="Segoe UI"/>
              </a:rPr>
              <a:t>Embeddings-based categorization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Automated Reorder Forecasting — </a:t>
            </a:r>
            <a:r>
              <a:rPr sz="850">
                <a:solidFill>
                  <a:srgbClr val="94A3B8"/>
                </a:solidFill>
                <a:latin typeface="Segoe UI"/>
              </a:rPr>
              <a:t>Predictive consumption modeling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Optical Barcode &amp; QR Camera — </a:t>
            </a:r>
            <a:r>
              <a:rPr sz="850">
                <a:solidFill>
                  <a:srgbClr val="94A3B8"/>
                </a:solidFill>
                <a:latin typeface="Segoe UI"/>
              </a:rPr>
              <a:t>Real-time mobile camera scanner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Automated Error Remediation — </a:t>
            </a:r>
            <a:r>
              <a:rPr sz="850">
                <a:solidFill>
                  <a:srgbClr val="94A3B8"/>
                </a:solidFill>
                <a:latin typeface="Segoe UI"/>
              </a:rPr>
              <a:t>Self-healing missing column values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Email / SMS Stock Alerts — </a:t>
            </a:r>
            <a:r>
              <a:rPr sz="850">
                <a:solidFill>
                  <a:srgbClr val="94A3B8"/>
                </a:solidFill>
                <a:latin typeface="Segoe UI"/>
              </a:rPr>
              <a:t>Amazon SNS/SES restock notifications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10144" y="1874519"/>
            <a:ext cx="3429000" cy="2926080"/>
          </a:xfrm>
          <a:prstGeom prst="roundRect">
            <a:avLst/>
          </a:prstGeom>
          <a:solidFill>
            <a:srgbClr val="131B2E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93024" y="1993392"/>
            <a:ext cx="3063240" cy="2697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sz="1100" b="1">
                <a:solidFill>
                  <a:srgbClr val="A855F7"/>
                </a:solidFill>
                <a:latin typeface="Segoe UI"/>
              </a:rPr>
              <a:t>PHASE 3 — ENTERPRISE SCALE</a:t>
            </a:r>
          </a:p>
          <a:p>
            <a:r>
              <a:rPr sz="900">
                <a:solidFill>
                  <a:srgbClr val="64748B"/>
                </a:solidFill>
                <a:latin typeface="Segoe UI"/>
              </a:rPr>
              <a:t>Production Architecture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Multi-Branch Warehouse Sync — </a:t>
            </a:r>
            <a:r>
              <a:rPr sz="850">
                <a:solidFill>
                  <a:srgbClr val="94A3B8"/>
                </a:solidFill>
                <a:latin typeface="Segoe UI"/>
              </a:rPr>
              <a:t>Cross-store transfers &amp; consolidated stock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Hardware POS Terminal Link — </a:t>
            </a:r>
            <a:r>
              <a:rPr sz="850">
                <a:solidFill>
                  <a:srgbClr val="94A3B8"/>
                </a:solidFill>
                <a:latin typeface="Segoe UI"/>
              </a:rPr>
              <a:t>Receipt printer &amp; thermal barcode hooks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AWS RDS Multi-AZ Replication — </a:t>
            </a:r>
            <a:r>
              <a:rPr sz="850">
                <a:solidFill>
                  <a:srgbClr val="94A3B8"/>
                </a:solidFill>
                <a:latin typeface="Segoe UI"/>
              </a:rPr>
              <a:t>Sub-second cross-zone failover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Global CDN CloudFront Edge — </a:t>
            </a:r>
            <a:r>
              <a:rPr sz="850">
                <a:solidFill>
                  <a:srgbClr val="94A3B8"/>
                </a:solidFill>
                <a:latin typeface="Segoe UI"/>
              </a:rPr>
              <a:t>Cached asset delivery &amp; WAF security</a:t>
            </a:r>
          </a:p>
          <a:p>
            <a:pPr>
              <a:spcBef>
                <a:spcPts val="500"/>
              </a:spcBef>
            </a:pPr>
            <a:r>
              <a:rPr sz="850" b="1">
                <a:solidFill>
                  <a:srgbClr val="FFFFFF"/>
                </a:solidFill>
                <a:latin typeface="Segoe UI"/>
              </a:rPr>
              <a:t>✓ Automated Multi-Region DR — </a:t>
            </a:r>
            <a:r>
              <a:rPr sz="850">
                <a:solidFill>
                  <a:srgbClr val="94A3B8"/>
                </a:solidFill>
                <a:latin typeface="Segoe UI"/>
              </a:rPr>
              <a:t>RTO &lt; 5 mins, RPO = 0 enterprise backup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983480"/>
            <a:ext cx="10725912" cy="1371600"/>
          </a:xfrm>
          <a:prstGeom prst="roundRect">
            <a:avLst/>
          </a:prstGeom>
          <a:solidFill>
            <a:srgbClr val="101A30"/>
          </a:solidFill>
          <a:ln w="254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074920"/>
            <a:ext cx="10332720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300" b="1">
                <a:solidFill>
                  <a:srgbClr val="06B6D4"/>
                </a:solidFill>
                <a:latin typeface="Segoe UI"/>
              </a:rPr>
              <a:t>GRAMSTOCK CLOUD</a:t>
            </a:r>
          </a:p>
          <a:p>
            <a:pPr algn="ctr">
              <a:spcBef>
                <a:spcPts val="400"/>
              </a:spcBef>
            </a:pPr>
            <a:r>
              <a:rPr sz="1800" b="1">
                <a:solidFill>
                  <a:srgbClr val="FFFFFF"/>
                </a:solidFill>
                <a:latin typeface="Segoe UI"/>
              </a:rPr>
              <a:t>"Different Data. Different Businesses. One Adaptive Inventory Platform."</a:t>
            </a:r>
          </a:p>
          <a:p>
            <a:pPr algn="ctr">
              <a:spcBef>
                <a:spcPts val="600"/>
              </a:spcBef>
            </a:pPr>
            <a:r>
              <a:rPr sz="1000">
                <a:solidFill>
                  <a:srgbClr val="94A3B8"/>
                </a:solidFill>
                <a:latin typeface="Segoe UI"/>
              </a:rPr>
              <a:t>Cloud Computing Mini-Project  •  Architecture: Next.js + Docker + PostgreSQL + AWS (S3 / EC2 / CloudWatch)  •  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