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2011680" cy="347472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FF9F00"/>
                </a:solidFill>
                <a:latin typeface="Segoe UI"/>
              </a:rPr>
              <a:t>⚡ GRAMSTOCK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18181B"/>
                </a:solidFill>
                <a:latin typeface="Segoe UI"/>
              </a:rPr>
              <a:t>One Inventory
</a:t>
            </a:r>
            <a:r>
              <a:rPr sz="4000" b="1">
                <a:solidFill>
                  <a:srgbClr val="FF9F00"/>
                </a:solidFill>
                <a:latin typeface="Segoe UI"/>
              </a:rPr>
              <a:t>Platform.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64748B"/>
                </a:solidFill>
                <a:latin typeface="Segoe UI"/>
              </a:rPr>
              <a:t>An adaptive, zero-schema SaaS system that transforms arbitrary business datasets into custom, tenant-isolated inventory dashboards.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986784"/>
            <a:ext cx="164592" cy="164592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3192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Segoe UI"/>
              </a:rPr>
              <a:t>Dynamic Schema Ingestion  </a:t>
            </a:r>
          </a:p>
          <a:p>
            <a:r>
              <a:rPr sz="950">
                <a:solidFill>
                  <a:srgbClr val="64748B"/>
                </a:solidFill>
                <a:latin typeface="Segoe UI"/>
              </a:rPr>
              <a:t>Uploads raw CSV without pre-defined database lock-in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645152"/>
            <a:ext cx="164592" cy="164592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90288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Segoe UI"/>
              </a:rPr>
              <a:t>Multi-Tenant Cloud Silo  </a:t>
            </a:r>
          </a:p>
          <a:p>
            <a:r>
              <a:rPr sz="950">
                <a:solidFill>
                  <a:srgbClr val="64748B"/>
                </a:solidFill>
                <a:latin typeface="Segoe UI"/>
              </a:rPr>
              <a:t>Guarantees complete row-level isolation between retail stores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303520"/>
            <a:ext cx="164592" cy="164592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24865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Segoe UI"/>
              </a:rPr>
              <a:t>AWS-Backed Telemetry  </a:t>
            </a:r>
          </a:p>
          <a:p>
            <a:r>
              <a:rPr sz="950">
                <a:solidFill>
                  <a:srgbClr val="64748B"/>
                </a:solidFill>
                <a:latin typeface="Segoe UI"/>
              </a:rPr>
              <a:t>Decouples Amazon S3 storage, EC2 compute &amp; CloudWatch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Cloud Computing Mini-Project 2026  •  Next.js 16 + Docker + AWS (S3 / EC2 / CloudWatch)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731520"/>
            <a:ext cx="4846320" cy="4846320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0" y="82296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5160" y="960120"/>
            <a:ext cx="4389120" cy="4389120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5240" y="2011680"/>
            <a:ext cx="310896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14884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9F00"/>
                </a:solidFill>
                <a:latin typeface="Segoe UI"/>
              </a:rPr>
              <a:t>⚡ ADAPTIVE CORE ENGINE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Heuristic Schema Inference
Dynamic Field Mapping
Zero-Downtime Multi-Tenancy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143000"/>
            <a:ext cx="21031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18181B"/>
                </a:solidFill>
                <a:latin typeface="Segoe UI"/>
              </a:rPr>
              <a:t>🛒 Kirana &amp; FMCG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143000"/>
            <a:ext cx="2103120" cy="384048"/>
          </a:xfrm>
          <a:prstGeom prst="roundRect">
            <a:avLst/>
          </a:prstGeom>
          <a:noFill/>
          <a:ln w="1524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0" y="1280160"/>
            <a:ext cx="21031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18181B"/>
                </a:solidFill>
                <a:latin typeface="Segoe UI"/>
              </a:rPr>
              <a:t>💊 Pharmacy &amp; Clinical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280160"/>
            <a:ext cx="2103120" cy="384048"/>
          </a:xfrm>
          <a:prstGeom prst="roundRect">
            <a:avLst/>
          </a:prstGeom>
          <a:noFill/>
          <a:ln w="1524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931920"/>
            <a:ext cx="21031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18181B"/>
                </a:solidFill>
                <a:latin typeface="Segoe UI"/>
              </a:rPr>
              <a:t>🍽️ Restaurant &amp; Cafe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931920"/>
            <a:ext cx="2103120" cy="384048"/>
          </a:xfrm>
          <a:prstGeom prst="roundRect">
            <a:avLst/>
          </a:prstGeom>
          <a:noFill/>
          <a:ln w="1524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3931920"/>
            <a:ext cx="21031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>
                <a:solidFill>
                  <a:srgbClr val="18181B"/>
                </a:solidFill>
                <a:latin typeface="Segoe UI"/>
              </a:rPr>
              <a:t>👗 Fashion &amp; Garments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3931920"/>
            <a:ext cx="2103120" cy="384048"/>
          </a:xfrm>
          <a:prstGeom prst="roundRect">
            <a:avLst/>
          </a:prstGeom>
          <a:noFill/>
          <a:ln w="1524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0" y="5943600"/>
            <a:ext cx="4480560" cy="45720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✦ "Different Businesses. One Adaptive Cloud Engine."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02 |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8181B"/>
                </a:solidFill>
                <a:latin typeface="Segoe UI"/>
              </a:rPr>
              <a:t>Every Business Is Different. </a:t>
            </a:r>
            <a:r>
              <a:rPr sz="2600" b="1">
                <a:solidFill>
                  <a:srgbClr val="FF9F00"/>
                </a:solidFill>
                <a:latin typeface="Segoe UI"/>
              </a:rPr>
              <a:t>Inventory Software Often Isn't.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One rigid relational template cannot accommodate the structural diversity of real-world retail businesses.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GROCERY &amp; FMCG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18181B"/>
                </a:solidFill>
                <a:latin typeface="Segoe UI"/>
              </a:rPr>
              <a:t>✓  Product Name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Package Weight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Selling Price (MRP)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FMCG Barcode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Fast-Moving 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783080"/>
            <a:ext cx="2542032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PHARMACY &amp; CLINICAL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40280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18181B"/>
                </a:solidFill>
                <a:latin typeface="Segoe UI"/>
              </a:rPr>
              <a:t>✓  Medicine Brand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Salt Formulation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Batch Number (Batch ID)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Expiry Date (Critical)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Schedule H Prescription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42032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542032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RESTAURANT &amp; CAFE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40280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18181B"/>
                </a:solidFill>
                <a:latin typeface="Segoe UI"/>
              </a:rPr>
              <a:t>✓  Ingredient Name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Unit of Measure (Kg/L)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Storage Temp (°C)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Recipe Consumption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Reorder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42032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1783080"/>
            <a:ext cx="2542032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GARMENTS &amp; APPAREL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40280"/>
            <a:ext cx="22677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18181B"/>
                </a:solidFill>
                <a:latin typeface="Segoe UI"/>
              </a:rPr>
              <a:t>✓  Style / Article Code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Size Matrix (S/M/L/XL)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Color Variant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Fabric Blend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8181B"/>
                </a:solidFill>
                <a:latin typeface="Segoe UI"/>
              </a:rPr>
              <a:t>✓  Seasonal Collection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10725912" cy="65836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⚠️ THE RIGID RELATIONAL TEMPLATE MISMATCH: Attempting to force all 4 schemas into 1 fixed table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• 60% of columns end up as unused NULLs  • Expiry alerts fail in clothing stores  • Schema edits require costly developer migrations and server downtime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3456432" cy="1508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120640"/>
            <a:ext cx="347472" cy="347472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20640"/>
            <a:ext cx="263347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Segoe UI"/>
              </a:rPr>
              <a:t>Rigid SQL Schemas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Traditional software assumes every business fits one predefined table. Inflexible relational constraints break when applied to new retail sectors.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4983480"/>
            <a:ext cx="3456432" cy="1508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53712" y="5120640"/>
            <a:ext cx="347472" cy="347472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5120640"/>
            <a:ext cx="263347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Segoe UI"/>
              </a:rPr>
              <a:t>Expensive Restructuring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Small merchants are forced into extensive manual Excel cleaning and developer consults just to onboard their historical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4983480"/>
            <a:ext cx="3456432" cy="15087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93024" y="5120640"/>
            <a:ext cx="347472" cy="347472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5120640"/>
            <a:ext cx="263347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8181B"/>
                </a:solidFill>
                <a:latin typeface="Segoe UI"/>
              </a:rPr>
              <a:t>Non-Adaptive Dashboards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64748B"/>
                </a:solidFill>
                <a:latin typeface="Segoe UI"/>
              </a:rPr>
              <a:t>Standard software displays irrelevant KPIs — e.g., batch expiry dates for t-shirts or clothing sizes for milk — creating cognitive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03 | THE ADAPTIVE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8181B"/>
                </a:solidFill>
                <a:latin typeface="Segoe UI"/>
              </a:rPr>
              <a:t>Upload Data. Shape the System. </a:t>
            </a:r>
            <a:r>
              <a:rPr sz="2600" b="1">
                <a:solidFill>
                  <a:srgbClr val="FF9F00"/>
                </a:solidFill>
                <a:latin typeface="Segoe UI"/>
              </a:rPr>
              <a:t>Get Your Dashboard.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A 5-stage automated pipeline where raw merchant datasets dynamically generate tailored inventory interfaces.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84831"/>
            <a:ext cx="996696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44752" y="1783080"/>
            <a:ext cx="658368" cy="65836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8181B"/>
                </a:solidFill>
                <a:latin typeface="Segoe UI"/>
              </a:rPr>
              <a:t>UPLOAD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Drag-and-drop raw CSV/XLSX file</a:t>
            </a:r>
          </a:p>
        </p:txBody>
      </p:sp>
      <p:sp>
        <p:nvSpPr>
          <p:cNvPr id="8" name="Oval 7"/>
          <p:cNvSpPr/>
          <p:nvPr/>
        </p:nvSpPr>
        <p:spPr>
          <a:xfrm>
            <a:off x="3639312" y="1783080"/>
            <a:ext cx="658368" cy="65836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8181B"/>
                </a:solidFill>
                <a:latin typeface="Segoe UI"/>
              </a:rPr>
              <a:t>ANALYZE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Heuristic parser checks headers &amp; types</a:t>
            </a:r>
          </a:p>
        </p:txBody>
      </p:sp>
      <p:sp>
        <p:nvSpPr>
          <p:cNvPr id="10" name="Oval 9"/>
          <p:cNvSpPr/>
          <p:nvPr/>
        </p:nvSpPr>
        <p:spPr>
          <a:xfrm>
            <a:off x="5833872" y="1783080"/>
            <a:ext cx="658368" cy="65836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603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8181B"/>
                </a:solidFill>
                <a:latin typeface="Segoe UI"/>
              </a:rPr>
              <a:t>CUSTOMIZE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Merchant verifies category &amp; mappings</a:t>
            </a:r>
          </a:p>
        </p:txBody>
      </p:sp>
      <p:sp>
        <p:nvSpPr>
          <p:cNvPr id="12" name="Oval 11"/>
          <p:cNvSpPr/>
          <p:nvPr/>
        </p:nvSpPr>
        <p:spPr>
          <a:xfrm>
            <a:off x="8028432" y="1783080"/>
            <a:ext cx="658368" cy="65836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8181B"/>
                </a:solidFill>
                <a:latin typeface="Segoe UI"/>
              </a:rPr>
              <a:t>GENERATE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Dynamic table &amp; KPI schemas instantiate</a:t>
            </a:r>
          </a:p>
        </p:txBody>
      </p:sp>
      <p:sp>
        <p:nvSpPr>
          <p:cNvPr id="14" name="Oval 13"/>
          <p:cNvSpPr/>
          <p:nvPr/>
        </p:nvSpPr>
        <p:spPr>
          <a:xfrm>
            <a:off x="10222992" y="1783080"/>
            <a:ext cx="658368" cy="658368"/>
          </a:xfrm>
          <a:prstGeom prst="ellipse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56032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18181B"/>
                </a:solidFill>
                <a:latin typeface="Segoe UI"/>
              </a:rPr>
              <a:t>INSIGHT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Live responsive dashboard with store silo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34290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3429000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📄 1. Raw CSV Dataset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05072"/>
            <a:ext cx="31546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8181B"/>
                </a:solidFill>
                <a:latin typeface="Segoe UI"/>
              </a:rPr>
              <a:t>• Item,Qty,Rate,BestBefore,BatchID 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Parle-G Gold, 120, 10, 2026-12-01, BAT-01 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Dolo 650mg, 85, 32, 2027-05-15, DL-881 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Linen Shirt L, 40, 899, N/A, SKU-402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566160"/>
            <a:ext cx="34290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70832" y="3566160"/>
            <a:ext cx="3429000" cy="347472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⚡ 2. Adaptive Schema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1546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8181B"/>
                </a:solidFill>
                <a:latin typeface="Segoe UI"/>
              </a:rPr>
              <a:t>• Category Detected: </a:t>
            </a:r>
            <a:r>
              <a:rPr sz="850">
                <a:solidFill>
                  <a:srgbClr val="FF9F00"/>
                </a:solidFill>
                <a:latin typeface="Segoe UI"/>
              </a:rPr>
              <a:t>Medical / Pharmacy (94%)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Item ➔ </a:t>
            </a:r>
            <a:r>
              <a:rPr sz="850">
                <a:solidFill>
                  <a:srgbClr val="FF9F00"/>
                </a:solidFill>
                <a:latin typeface="Segoe UI"/>
              </a:rPr>
              <a:t>Product Name (Primary Index)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Qty ➔ </a:t>
            </a:r>
            <a:r>
              <a:rPr sz="850">
                <a:solidFill>
                  <a:srgbClr val="FF9F00"/>
                </a:solidFill>
                <a:latin typeface="Segoe UI"/>
              </a:rPr>
              <a:t>Stock Count (Tracked Integer)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Rate ➔ </a:t>
            </a:r>
            <a:r>
              <a:rPr sz="850">
                <a:solidFill>
                  <a:srgbClr val="FF9F00"/>
                </a:solidFill>
                <a:latin typeface="Segoe UI"/>
              </a:rPr>
              <a:t>Unit Price (INR Currency)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BestBefore ➔ </a:t>
            </a:r>
            <a:r>
              <a:rPr sz="850">
                <a:solidFill>
                  <a:srgbClr val="FF9F00"/>
                </a:solidFill>
                <a:latin typeface="Segoe UI"/>
              </a:rPr>
              <a:t>Expiry Date (ISO Countdown)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566160"/>
            <a:ext cx="34290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0144" y="3566160"/>
            <a:ext cx="3429000" cy="34747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📊 3. Generated Tailored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005072"/>
            <a:ext cx="31546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8181B"/>
                </a:solidFill>
                <a:latin typeface="Segoe UI"/>
              </a:rPr>
              <a:t>• Dynamic KPIs: </a:t>
            </a:r>
            <a:r>
              <a:rPr sz="850">
                <a:solidFill>
                  <a:srgbClr val="FF9F00"/>
                </a:solidFill>
                <a:latin typeface="Segoe UI"/>
              </a:rPr>
              <a:t>Total Value, Batch Health, Alerts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Contextual Filter: </a:t>
            </a:r>
            <a:r>
              <a:rPr sz="850">
                <a:solidFill>
                  <a:srgbClr val="FF9F00"/>
                </a:solidFill>
                <a:latin typeface="Segoe UI"/>
              </a:rPr>
              <a:t>Expiry countdowns for medicines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Adaptive Table: </a:t>
            </a:r>
            <a:r>
              <a:rPr sz="850">
                <a:solidFill>
                  <a:srgbClr val="FF9F00"/>
                </a:solidFill>
                <a:latin typeface="Segoe UI"/>
              </a:rPr>
              <a:t>Renders exact mapped columns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• Store Silo: </a:t>
            </a:r>
            <a:r>
              <a:rPr sz="850">
                <a:solidFill>
                  <a:srgbClr val="FF9F00"/>
                </a:solidFill>
                <a:latin typeface="Segoe UI"/>
              </a:rPr>
              <a:t>Restricted to pharmacy tenant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725912" cy="5943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Segoe UI"/>
              </a:rPr>
              <a:t>💡 Core Architectural Principle: "Suggestions are automated via zero-shot heuristic pattern analysis. Final configuration stays strictly with the merchant."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04 | CLOUD COMPUTING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8181B"/>
                </a:solidFill>
                <a:latin typeface="Segoe UI"/>
              </a:rPr>
              <a:t>From Uploaded File to </a:t>
            </a:r>
            <a:r>
              <a:rPr sz="2600" b="1">
                <a:solidFill>
                  <a:srgbClr val="FF9F00"/>
                </a:solidFill>
                <a:latin typeface="Segoe UI"/>
              </a:rPr>
              <a:t>Cloud-Powered Dashboard.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Engineered with clean separation of concerns: Object Storage for files, Virtual Compute for logic, and CloudWatch for observability.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2423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Browser &amp; PWA Access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Next.js React Client
  </a:t>
            </a:r>
            <a:r>
              <a:rPr sz="800">
                <a:solidFill>
                  <a:srgbClr val="64748B"/>
                </a:solidFill>
                <a:latin typeface="Segoe UI"/>
              </a:rPr>
              <a:t>Responsive desktop &amp; mobile UI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HTTPS TLS 1.3
  </a:t>
            </a:r>
            <a:r>
              <a:rPr sz="800">
                <a:solidFill>
                  <a:srgbClr val="64748B"/>
                </a:solidFill>
                <a:latin typeface="Segoe UI"/>
              </a:rPr>
              <a:t>Encrypted session tokens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State Hydration
  </a:t>
            </a:r>
            <a:r>
              <a:rPr sz="800">
                <a:solidFill>
                  <a:srgbClr val="64748B"/>
                </a:solidFill>
                <a:latin typeface="Segoe UI"/>
              </a:rPr>
              <a:t>Local theme &amp; business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423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783080"/>
            <a:ext cx="2542032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COMPUTE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4028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Amazon EC2 (t3.micro)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Next.js Full-Stack App
  </a:t>
            </a:r>
            <a:r>
              <a:rPr sz="800">
                <a:solidFill>
                  <a:srgbClr val="64748B"/>
                </a:solidFill>
                <a:latin typeface="Segoe UI"/>
              </a:rPr>
              <a:t>Docker Node 20 Alpine container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Inference Engine
  </a:t>
            </a:r>
            <a:r>
              <a:rPr sz="800">
                <a:solidFill>
                  <a:srgbClr val="64748B"/>
                </a:solidFill>
                <a:latin typeface="Segoe UI"/>
              </a:rPr>
              <a:t>Zero-schema heuristic parsing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Bcrypt Security
  </a:t>
            </a:r>
            <a:r>
              <a:rPr sz="800">
                <a:solidFill>
                  <a:srgbClr val="64748B"/>
                </a:solidFill>
                <a:latin typeface="Segoe UI"/>
              </a:rPr>
              <a:t>10-round salted password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42032" cy="2423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542032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STORAGE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4028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S3 Storage + PostgreSQL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Amazon S3 Bucket
  </a:t>
            </a:r>
            <a:r>
              <a:rPr sz="800">
                <a:solidFill>
                  <a:srgbClr val="64748B"/>
                </a:solidFill>
                <a:latin typeface="Segoe UI"/>
              </a:rPr>
              <a:t>Raw CSV dataset backups (AES-256)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PostgreSQL Store
  </a:t>
            </a:r>
            <a:r>
              <a:rPr sz="800">
                <a:solidFill>
                  <a:srgbClr val="64748B"/>
                </a:solidFill>
                <a:latin typeface="Segoe UI"/>
              </a:rPr>
              <a:t>Multi-tenant inventory records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Row-Level Isolation
  </a:t>
            </a:r>
            <a:r>
              <a:rPr sz="800">
                <a:solidFill>
                  <a:srgbClr val="64748B"/>
                </a:solidFill>
                <a:latin typeface="Segoe UI"/>
              </a:rPr>
              <a:t>Strict merchant data separation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42032" cy="2423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1783080"/>
            <a:ext cx="2542032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4.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40280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CloudWatch &amp; Audit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CloudWatch Telemetry
  </a:t>
            </a:r>
            <a:r>
              <a:rPr sz="800">
                <a:solidFill>
                  <a:srgbClr val="64748B"/>
                </a:solidFill>
                <a:latin typeface="Segoe UI"/>
              </a:rPr>
              <a:t>Latency, uptime &amp; SLA metrics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CloudTrail Audit Stream
  </a:t>
            </a:r>
            <a:r>
              <a:rPr sz="800">
                <a:solidFill>
                  <a:srgbClr val="64748B"/>
                </a:solidFill>
                <a:latin typeface="Segoe UI"/>
              </a:rPr>
              <a:t>KMS-signed security log stream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▸ Root Governance
  </a:t>
            </a:r>
            <a:r>
              <a:rPr sz="800">
                <a:solidFill>
                  <a:srgbClr val="64748B"/>
                </a:solidFill>
                <a:latin typeface="Segoe UI"/>
              </a:rPr>
              <a:t>Super Admin platform monitor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2542032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9F00"/>
                </a:solidFill>
                <a:latin typeface="Segoe UI"/>
              </a:rPr>
              <a:t>AMAZON S3  —  STORE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Cloud Object Storage: Stores raw CSV source files &amp; backups with server-side AES-256 KMS encryption.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4389120"/>
            <a:ext cx="2542032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A1A1A"/>
                </a:solidFill>
                <a:latin typeface="Segoe UI"/>
              </a:rPr>
              <a:t>AMAZON EC2  —  RUN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Virtual Compute Hosting: Runs containerized Docker application backend, ingestion algorithms &amp; auth.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389120"/>
            <a:ext cx="2542032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F9F00"/>
                </a:solidFill>
                <a:latin typeface="Segoe UI"/>
              </a:rPr>
              <a:t>CLOUDWATCH  —  OBSERVE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Observability &amp; Audit: Aggregates logs, tracks P95 42ms response latency, and records SOC-2 audit trails.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4389120"/>
            <a:ext cx="2542032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A1A1A"/>
                </a:solidFill>
                <a:latin typeface="Segoe UI"/>
              </a:rPr>
              <a:t>POSTGRESQL  —  PERSIST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ACID Data Store: Persistent business configurations, dynamic schema definitions &amp; tenant inventory.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725912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167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🟢 VERIFIED IMPLEMENTATION: Docker Container, S3 Adapter, PostgreSQL Store, Telemetry API  |  🔵 TARGET CLOUD BLUEPRINT: Amazon EC2 (t3.micro), Amazon RDS, AWS CloudWatch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05 | TECH STACK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8181B"/>
                </a:solidFill>
                <a:latin typeface="Segoe UI"/>
              </a:rPr>
              <a:t>Every Technology Has </a:t>
            </a:r>
            <a:r>
              <a:rPr sz="2600" b="1">
                <a:solidFill>
                  <a:srgbClr val="FF9F00"/>
                </a:solidFill>
                <a:latin typeface="Segoe UI"/>
              </a:rPr>
              <a:t>A Specific Job.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Selected to guarantee configuration-driven adaptability, strong relational integrity, and isolated cloud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858000" cy="65836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91440" cy="658368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37944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9F00"/>
                </a:solidFill>
                <a:latin typeface="Segoe UI"/>
              </a:rPr>
              <a:t>LAYER 1 — EXPERIENCE  •  </a:t>
            </a:r>
            <a:r>
              <a:rPr sz="950" b="1">
                <a:solidFill>
                  <a:srgbClr val="18181B"/>
                </a:solidFill>
                <a:latin typeface="Segoe UI"/>
              </a:rPr>
              <a:t>Next.js 16 + React 19 + TypeScript + Tailwind CSS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Server-side rendering, instant page hydration, strictly typed schemas, and dynamic theme switching.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96312"/>
            <a:ext cx="6858000" cy="65836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96312"/>
            <a:ext cx="914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51176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A1A1A"/>
                </a:solidFill>
                <a:latin typeface="Segoe UI"/>
              </a:rPr>
              <a:t>LAYER 2 — LOGIC &amp; INGESTION  •  </a:t>
            </a:r>
            <a:r>
              <a:rPr sz="950" b="1">
                <a:solidFill>
                  <a:srgbClr val="18181B"/>
                </a:solidFill>
                <a:latin typeface="Segoe UI"/>
              </a:rPr>
              <a:t>Next.js API Server Routes + Bcrypt + S3 SDK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High-throughput CSV chunking, automated heuristic column inference, and bcrypt password hashing.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9544"/>
            <a:ext cx="6858000" cy="65836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9544"/>
            <a:ext cx="91440" cy="658368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64408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9F00"/>
                </a:solidFill>
                <a:latin typeface="Segoe UI"/>
              </a:rPr>
              <a:t>LAYER 3 — DATA PERSISTENCE  •  </a:t>
            </a:r>
            <a:r>
              <a:rPr sz="950" b="1">
                <a:solidFill>
                  <a:srgbClr val="18181B"/>
                </a:solidFill>
                <a:latin typeface="Segoe UI"/>
              </a:rPr>
              <a:t>PostgreSQL + Multi-Tenant Row Isolation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Structured ACID storage for business profiles, schema configs, and transaction ledger. JSONB for custom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22776"/>
            <a:ext cx="6858000" cy="65836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22776"/>
            <a:ext cx="914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A1A1A"/>
                </a:solidFill>
                <a:latin typeface="Segoe UI"/>
              </a:rPr>
              <a:t>LAYER 4 — CLOUD STORAGE  •  </a:t>
            </a:r>
            <a:r>
              <a:rPr sz="950" b="1">
                <a:solidFill>
                  <a:srgbClr val="18181B"/>
                </a:solidFill>
                <a:latin typeface="Segoe UI"/>
              </a:rPr>
              <a:t>Amazon S3 (Cloud Object Storage)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Decouples bulk file ingestion from application compute, ensuring raw uploads never degrade transactional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36008"/>
            <a:ext cx="6858000" cy="65836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36008"/>
            <a:ext cx="91440" cy="658368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90872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F9F00"/>
                </a:solidFill>
                <a:latin typeface="Segoe UI"/>
              </a:rPr>
              <a:t>LAYER 5 — OBSERVABILITY  •  </a:t>
            </a:r>
            <a:r>
              <a:rPr sz="950" b="1">
                <a:solidFill>
                  <a:srgbClr val="18181B"/>
                </a:solidFill>
                <a:latin typeface="Segoe UI"/>
              </a:rPr>
              <a:t>AWS CloudTrail Ledger + CloudWatch RUM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Cryptographically verifiable audit log tracking every restock and schema edit. Multi-tenant isolation prevents data leaks.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6858000" cy="658368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91440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04104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A1A1A"/>
                </a:solidFill>
                <a:latin typeface="Segoe UI"/>
              </a:rPr>
              <a:t>LAYER 6 — PACKAGING  •  </a:t>
            </a:r>
            <a:r>
              <a:rPr sz="950" b="1">
                <a:solidFill>
                  <a:srgbClr val="18181B"/>
                </a:solidFill>
                <a:latin typeface="Segoe UI"/>
              </a:rPr>
              <a:t>Docker (Multi-Stage Node 20 Alpine)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Guarantees reproducible container execution across development and AWS production environments with minimal 140MB footprint.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783080"/>
            <a:ext cx="3639312" cy="13533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8120" y="1783080"/>
            <a:ext cx="3639312" cy="3200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1. Configuration-Driven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167128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Rather than generating hardcoded database tables per merchant, a single unified engine reads runtime schema definitions and dynamically projects corresponding tables and forms.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227832"/>
            <a:ext cx="3639312" cy="13533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20" y="3227832"/>
            <a:ext cx="3639312" cy="3200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2. Strict Relational 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6118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Inventory stock adjustments and ledger audit logs require absolute ACID consistency. PostgreSQL guarantees transactional consistency, preventing ghost stock or unrecorded sales.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672584"/>
            <a:ext cx="3639312" cy="13533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18120" y="4672584"/>
            <a:ext cx="3639312" cy="3200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3. Clean Separation of Cloud Concerns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05663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Large CSV uploads are sent directly to Amazon S3, compute logic runs on EC2, and health telemetry streams to CloudWatch — preventing single points of failure.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72200"/>
            <a:ext cx="10725912" cy="365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850" b="1">
                <a:solidFill>
                  <a:srgbClr val="18181B"/>
                </a:solidFill>
                <a:latin typeface="Segoe UI"/>
              </a:rPr>
              <a:t>🔒 Security Guarantee: Zero hardcoded secrets in version control; environment variables strictly injected via process.env with Docker isolation.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06 | DEMONSTRATED VALUE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8181B"/>
                </a:solidFill>
                <a:latin typeface="Segoe UI"/>
              </a:rPr>
              <a:t>One Engine. </a:t>
            </a:r>
            <a:r>
              <a:rPr sz="2600" b="1">
                <a:solidFill>
                  <a:srgbClr val="FF9F00"/>
                </a:solidFill>
                <a:latin typeface="Segoe UI"/>
              </a:rPr>
              <a:t>Multiple Tailored Experiences.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Real demonstration evidence verified across 4 distinct industry store silos with live cloud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2468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8181B"/>
                </a:solidFill>
                <a:latin typeface="Segoe UI"/>
              </a:rPr>
              <a:t>GUPTA SUPER KIRANA</a:t>
            </a:r>
          </a:p>
          <a:p>
            <a:r>
              <a:rPr sz="850">
                <a:solidFill>
                  <a:srgbClr val="FF9F00"/>
                </a:solidFill>
                <a:latin typeface="Segoe UI"/>
              </a:rPr>
              <a:t>Grocery &amp; Daily FMCG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Aashirvaad Chakki Atta 10kg
  </a:t>
            </a:r>
            <a:r>
              <a:rPr sz="750">
                <a:solidFill>
                  <a:srgbClr val="64748B"/>
                </a:solidFill>
                <a:latin typeface="Segoe UI"/>
              </a:rPr>
              <a:t>120 Bags | ₹440 | Low Stock Alert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Fortune Mustard Oil 1L
  </a:t>
            </a:r>
            <a:r>
              <a:rPr sz="750">
                <a:solidFill>
                  <a:srgbClr val="64748B"/>
                </a:solidFill>
                <a:latin typeface="Segoe UI"/>
              </a:rPr>
              <a:t>85 Bottles | ₹145 | Optimal Stock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Parle-G Gold Biscuits 250g
  </a:t>
            </a:r>
            <a:r>
              <a:rPr sz="750">
                <a:solidFill>
                  <a:srgbClr val="64748B"/>
                </a:solidFill>
                <a:latin typeface="Segoe UI"/>
              </a:rPr>
              <a:t>250 Packs | ₹25 | Fast Moving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2176272" cy="3200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EXPLORE KIRANA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468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8181B"/>
                </a:solidFill>
                <a:latin typeface="Segoe UI"/>
              </a:rPr>
              <a:t>APOLLO MEDICO PHARMACY</a:t>
            </a:r>
          </a:p>
          <a:p>
            <a:r>
              <a:rPr sz="850">
                <a:solidFill>
                  <a:srgbClr val="FF9F00"/>
                </a:solidFill>
                <a:latin typeface="Segoe UI"/>
              </a:rPr>
              <a:t>Pharmaceuticals &amp; Clinical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Dolo 650mg Paracetamol
  </a:t>
            </a:r>
            <a:r>
              <a:rPr sz="750">
                <a:solidFill>
                  <a:srgbClr val="64748B"/>
                </a:solidFill>
                <a:latin typeface="Segoe UI"/>
              </a:rPr>
              <a:t>500 Strips | Batch DL-8811 | Exp: 2027-05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Augmentin 625 Duo Antibiotic
  </a:t>
            </a:r>
            <a:r>
              <a:rPr sz="750">
                <a:solidFill>
                  <a:srgbClr val="64748B"/>
                </a:solidFill>
                <a:latin typeface="Segoe UI"/>
              </a:rPr>
              <a:t>80 Packs | Batch AG-4420 | Exp: 2026-11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Betadine 10% Ointment 20g
  </a:t>
            </a:r>
            <a:r>
              <a:rPr sz="750">
                <a:solidFill>
                  <a:srgbClr val="64748B"/>
                </a:solidFill>
                <a:latin typeface="Segoe UI"/>
              </a:rPr>
              <a:t>45 Tubes | Batch BT-1002 | Exp: 2028-01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9312" y="3840480"/>
            <a:ext cx="2176272" cy="3200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EXPLORE PHARMACY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42032" cy="2468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8181B"/>
                </a:solidFill>
                <a:latin typeface="Segoe UI"/>
              </a:rPr>
              <a:t>MARCO BISTRO &amp; CAFE</a:t>
            </a:r>
          </a:p>
          <a:p>
            <a:r>
              <a:rPr sz="850">
                <a:solidFill>
                  <a:srgbClr val="FF9F00"/>
                </a:solidFill>
                <a:latin typeface="Segoe UI"/>
              </a:rPr>
              <a:t>Restaurant &amp; Hospitality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Fresh Mozzarella Cheese
  </a:t>
            </a:r>
            <a:r>
              <a:rPr sz="750">
                <a:solidFill>
                  <a:srgbClr val="64748B"/>
                </a:solidFill>
                <a:latin typeface="Segoe UI"/>
              </a:rPr>
              <a:t>18.5 Kg | Cold (4°C) | Reorder Triggered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Daawat Basmati Premium
  </a:t>
            </a:r>
            <a:r>
              <a:rPr sz="750">
                <a:solidFill>
                  <a:srgbClr val="64748B"/>
                </a:solidFill>
                <a:latin typeface="Segoe UI"/>
              </a:rPr>
              <a:t>65.0 Kg | Dry Storage | Sufficient Stock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Extra Virgin Olive Oil 5L
  </a:t>
            </a:r>
            <a:r>
              <a:rPr sz="750">
                <a:solidFill>
                  <a:srgbClr val="64748B"/>
                </a:solidFill>
                <a:latin typeface="Segoe UI"/>
              </a:rPr>
              <a:t>6 Cans | Pantry | Optimal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3840480"/>
            <a:ext cx="2176272" cy="3200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EXPLORE CAFE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83080"/>
            <a:ext cx="2542032" cy="2468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74519"/>
            <a:ext cx="226771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8181B"/>
                </a:solidFill>
                <a:latin typeface="Segoe UI"/>
              </a:rPr>
              <a:t>URBAN THREADS APPAREL</a:t>
            </a:r>
          </a:p>
          <a:p>
            <a:r>
              <a:rPr sz="850">
                <a:solidFill>
                  <a:srgbClr val="FF9F00"/>
                </a:solidFill>
                <a:latin typeface="Segoe UI"/>
              </a:rPr>
              <a:t>Fashion &amp; Garments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Slim-Fit Raw Denim (Size 32)
  </a:t>
            </a:r>
            <a:r>
              <a:rPr sz="750">
                <a:solidFill>
                  <a:srgbClr val="64748B"/>
                </a:solidFill>
                <a:latin typeface="Segoe UI"/>
              </a:rPr>
              <a:t>35 Pcs | Indigo Blue | SKU-DNM-32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Pure Linen Casual Shirt (L)
  </a:t>
            </a:r>
            <a:r>
              <a:rPr sz="750">
                <a:solidFill>
                  <a:srgbClr val="64748B"/>
                </a:solidFill>
                <a:latin typeface="Segoe UI"/>
              </a:rPr>
              <a:t>24 Pcs | White Solid | SKU-LIN-04</a:t>
            </a:r>
          </a:p>
          <a:p>
            <a:pPr>
              <a:spcBef>
                <a:spcPts val="300"/>
              </a:spcBef>
            </a:pPr>
            <a:r>
              <a:rPr sz="800" b="1">
                <a:solidFill>
                  <a:srgbClr val="18181B"/>
                </a:solidFill>
                <a:latin typeface="Segoe UI"/>
              </a:rPr>
              <a:t>• Crew Neck Cotton Tee (M)
  </a:t>
            </a:r>
            <a:r>
              <a:rPr sz="750">
                <a:solidFill>
                  <a:srgbClr val="64748B"/>
                </a:solidFill>
                <a:latin typeface="Segoe UI"/>
              </a:rPr>
              <a:t>60 Pcs | Olive Green | SKU-TSH-08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3840480"/>
            <a:ext cx="2176272" cy="3200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EXPLORE APPAREL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2542032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✦ ADAPTABILITY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Instantly projects dynamic UI components from arbitrary CSV structures without database schema rewrites.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4389120"/>
            <a:ext cx="2542032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✦ VISIBILITY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Delivers context-aware inventory metrics (e.g. expiry countdown for medicines, size matrix for clothing).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389120"/>
            <a:ext cx="2542032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✦ ACCESSIBILITY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Responsive desktop and mobile web PWA architecture allowing shopkeepers to inspect inventory on any phone.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4389120"/>
            <a:ext cx="2542032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✦ OBSERVABILITY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64748B"/>
                </a:solidFill>
                <a:latin typeface="Segoe UI"/>
              </a:rPr>
              <a:t>Integrated CloudTrail audit trail, SOC-2 compliant tenant isolation, and live AWS availability health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725912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✅ LIVE DEMONSTRATION VERIFIED: CSV Ingestion • Schema Inference • 1-Click Multi-Store Role Switching • Super Admin Audit Ledger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9F00"/>
                </a:solidFill>
                <a:latin typeface="Segoe UI"/>
              </a:rPr>
              <a:t>07 | 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8181B"/>
                </a:solidFill>
                <a:latin typeface="Segoe UI"/>
              </a:rPr>
              <a:t>Built to Adapt. </a:t>
            </a:r>
            <a:r>
              <a:rPr sz="2600" b="1">
                <a:solidFill>
                  <a:srgbClr val="FF9F00"/>
                </a:solidFill>
                <a:latin typeface="Segoe UI"/>
              </a:rPr>
              <a:t>Designed to Scale.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A clear evolution roadmap advancing from our functional MVP into intelligent forecasting and multi-region enterprise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564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56432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1 —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31272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Current Implemented MVP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Adaptive Ingestion Engine — </a:t>
            </a:r>
            <a:r>
              <a:rPr sz="800">
                <a:solidFill>
                  <a:srgbClr val="64748B"/>
                </a:solidFill>
                <a:latin typeface="Segoe UI"/>
              </a:rPr>
              <a:t>CSV/XLSX drag-and-drop parsing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Heuristic Schema Detection — </a:t>
            </a:r>
            <a:r>
              <a:rPr sz="800">
                <a:solidFill>
                  <a:srgbClr val="64748B"/>
                </a:solidFill>
                <a:latin typeface="Segoe UI"/>
              </a:rPr>
              <a:t>Infers data types &amp; business category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Multi-Tenant Store Silos — </a:t>
            </a:r>
            <a:r>
              <a:rPr sz="800">
                <a:solidFill>
                  <a:srgbClr val="64748B"/>
                </a:solidFill>
                <a:latin typeface="Segoe UI"/>
              </a:rPr>
              <a:t>4 distinct live industry environments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AWS S3 &amp; Bcrypt Auth — </a:t>
            </a:r>
            <a:r>
              <a:rPr sz="800">
                <a:solidFill>
                  <a:srgbClr val="64748B"/>
                </a:solidFill>
                <a:latin typeface="Segoe UI"/>
              </a:rPr>
              <a:t>Presigned uploads &amp; 10-round salted auth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Super Admin Audit Monitor — </a:t>
            </a:r>
            <a:r>
              <a:rPr sz="800">
                <a:solidFill>
                  <a:srgbClr val="64748B"/>
                </a:solidFill>
                <a:latin typeface="Segoe UI"/>
              </a:rPr>
              <a:t>CloudTrail &amp; RUM telemetry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564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783080"/>
            <a:ext cx="3456432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2 —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40280"/>
            <a:ext cx="31272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Next Phase Enhancements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Machine Learning Classifier — </a:t>
            </a:r>
            <a:r>
              <a:rPr sz="800">
                <a:solidFill>
                  <a:srgbClr val="64748B"/>
                </a:solidFill>
                <a:latin typeface="Segoe UI"/>
              </a:rPr>
              <a:t>Embeddings-based categorization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Automated Reorder Forecasting — </a:t>
            </a:r>
            <a:r>
              <a:rPr sz="800">
                <a:solidFill>
                  <a:srgbClr val="64748B"/>
                </a:solidFill>
                <a:latin typeface="Segoe UI"/>
              </a:rPr>
              <a:t>Predictive consumption modeling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Optical Barcode &amp; QR Camera — </a:t>
            </a:r>
            <a:r>
              <a:rPr sz="800">
                <a:solidFill>
                  <a:srgbClr val="64748B"/>
                </a:solidFill>
                <a:latin typeface="Segoe UI"/>
              </a:rPr>
              <a:t>Real-time mobile camera scanner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Automated Error Remediation — </a:t>
            </a:r>
            <a:r>
              <a:rPr sz="800">
                <a:solidFill>
                  <a:srgbClr val="64748B"/>
                </a:solidFill>
                <a:latin typeface="Segoe UI"/>
              </a:rPr>
              <a:t>Self-healing missing column values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Email / SMS Stock Alerts — </a:t>
            </a:r>
            <a:r>
              <a:rPr sz="800">
                <a:solidFill>
                  <a:srgbClr val="64748B"/>
                </a:solidFill>
                <a:latin typeface="Segoe UI"/>
              </a:rPr>
              <a:t>Amazon SNS/SES restock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83080"/>
            <a:ext cx="3456432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783080"/>
            <a:ext cx="3456432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PHASE 3 — ENTERPRISE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240280"/>
            <a:ext cx="3127248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F9F00"/>
                </a:solidFill>
                <a:latin typeface="Segoe UI"/>
              </a:rPr>
              <a:t>Production Target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Multi-Branch Warehouse Sync — </a:t>
            </a:r>
            <a:r>
              <a:rPr sz="800">
                <a:solidFill>
                  <a:srgbClr val="64748B"/>
                </a:solidFill>
                <a:latin typeface="Segoe UI"/>
              </a:rPr>
              <a:t>Cross-store transfers &amp; consolidated stock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Hardware POS Terminal Link — </a:t>
            </a:r>
            <a:r>
              <a:rPr sz="800">
                <a:solidFill>
                  <a:srgbClr val="64748B"/>
                </a:solidFill>
                <a:latin typeface="Segoe UI"/>
              </a:rPr>
              <a:t>Receipt printer &amp; thermal barcode hooks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AWS RDS Multi-AZ Replication — </a:t>
            </a:r>
            <a:r>
              <a:rPr sz="800">
                <a:solidFill>
                  <a:srgbClr val="64748B"/>
                </a:solidFill>
                <a:latin typeface="Segoe UI"/>
              </a:rPr>
              <a:t>Sub-second cross-zone failover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Global CDN CloudFront Edge — </a:t>
            </a:r>
            <a:r>
              <a:rPr sz="800">
                <a:solidFill>
                  <a:srgbClr val="64748B"/>
                </a:solidFill>
                <a:latin typeface="Segoe UI"/>
              </a:rPr>
              <a:t>Cached asset delivery &amp; WAF security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18181B"/>
                </a:solidFill>
                <a:latin typeface="Segoe UI"/>
              </a:rPr>
              <a:t>✓ Automated Multi-Region DR — </a:t>
            </a:r>
            <a:r>
              <a:rPr sz="800">
                <a:solidFill>
                  <a:srgbClr val="64748B"/>
                </a:solidFill>
                <a:latin typeface="Segoe UI"/>
              </a:rPr>
              <a:t>RTO &lt; 5 mins, RPO = 0 enterprise backup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10725912" cy="150876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Segoe UI"/>
              </a:rPr>
              <a:t>GRAMSTOCK CLOUD</a:t>
            </a:r>
          </a:p>
          <a:p>
            <a:pPr algn="ctr">
              <a:spcBef>
                <a:spcPts val="300"/>
              </a:spcBef>
            </a:pPr>
            <a:r>
              <a:rPr sz="2000" b="1">
                <a:solidFill>
                  <a:srgbClr val="FFFFFF"/>
                </a:solidFill>
                <a:latin typeface="Segoe UI"/>
              </a:rPr>
              <a:t>"Different Data. Different Businesses. One Adaptive Inventory Platform."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1A1A1A"/>
                </a:solidFill>
                <a:latin typeface="Segoe UI"/>
              </a:rPr>
              <a:t>Cloud Computing Mini-Project 2026  •  Next.js 16 + Docker + AWS (S3 / EC2 / CloudWatch)  • 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